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66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mal Karanakota" initials="KK" lastIdx="3" clrIdx="0">
    <p:extLst>
      <p:ext uri="{19B8F6BF-5375-455C-9EA6-DF929625EA0E}">
        <p15:presenceInfo xmlns:p15="http://schemas.microsoft.com/office/powerpoint/2012/main" userId="9a246d502ac3977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5" d="100"/>
          <a:sy n="55" d="100"/>
        </p:scale>
        <p:origin x="10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r>
              <a:rPr lang="en-US" sz="1800" dirty="0"/>
              <a:t>Top Deviation Activities by Frequency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+mn-ea"/>
              <a:cs typeface="Poppins" panose="00000500000000000000" pitchFamily="2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shade val="47000"/>
                    </a:schemeClr>
                  </a:gs>
                  <a:gs pos="75000">
                    <a:schemeClr val="accent1">
                      <a:shade val="47000"/>
                      <a:lumMod val="60000"/>
                      <a:lumOff val="40000"/>
                    </a:schemeClr>
                  </a:gs>
                  <a:gs pos="51000">
                    <a:schemeClr val="accent1">
                      <a:shade val="47000"/>
                      <a:alpha val="75000"/>
                    </a:schemeClr>
                  </a:gs>
                  <a:gs pos="100000">
                    <a:schemeClr val="accent1">
                      <a:shade val="47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BE0-42FC-A1C5-2864C5FD2F25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shade val="65000"/>
                    </a:schemeClr>
                  </a:gs>
                  <a:gs pos="75000">
                    <a:schemeClr val="accent1">
                      <a:shade val="65000"/>
                      <a:lumMod val="60000"/>
                      <a:lumOff val="40000"/>
                    </a:schemeClr>
                  </a:gs>
                  <a:gs pos="51000">
                    <a:schemeClr val="accent1">
                      <a:shade val="65000"/>
                      <a:alpha val="75000"/>
                    </a:schemeClr>
                  </a:gs>
                  <a:gs pos="100000">
                    <a:schemeClr val="accent1">
                      <a:shade val="65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BE0-42FC-A1C5-2864C5FD2F25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shade val="82000"/>
                    </a:schemeClr>
                  </a:gs>
                  <a:gs pos="75000">
                    <a:schemeClr val="accent1">
                      <a:shade val="82000"/>
                      <a:lumMod val="60000"/>
                      <a:lumOff val="40000"/>
                    </a:schemeClr>
                  </a:gs>
                  <a:gs pos="51000">
                    <a:schemeClr val="accent1">
                      <a:shade val="82000"/>
                      <a:alpha val="75000"/>
                    </a:schemeClr>
                  </a:gs>
                  <a:gs pos="100000">
                    <a:schemeClr val="accent1">
                      <a:shade val="82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BE0-42FC-A1C5-2864C5FD2F25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75000">
                    <a:schemeClr val="accent1">
                      <a:lumMod val="60000"/>
                      <a:lumOff val="40000"/>
                    </a:schemeClr>
                  </a:gs>
                  <a:gs pos="51000">
                    <a:schemeClr val="accent1">
                      <a:alpha val="75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BE0-42FC-A1C5-2864C5FD2F25}"/>
              </c:ext>
            </c:extLst>
          </c:dPt>
          <c:dPt>
            <c:idx val="4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tint val="83000"/>
                    </a:schemeClr>
                  </a:gs>
                  <a:gs pos="75000">
                    <a:schemeClr val="accent1">
                      <a:tint val="83000"/>
                      <a:lumMod val="60000"/>
                      <a:lumOff val="40000"/>
                    </a:schemeClr>
                  </a:gs>
                  <a:gs pos="51000">
                    <a:schemeClr val="accent1">
                      <a:tint val="83000"/>
                      <a:alpha val="75000"/>
                    </a:schemeClr>
                  </a:gs>
                  <a:gs pos="100000">
                    <a:schemeClr val="accent1">
                      <a:tint val="83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BE0-42FC-A1C5-2864C5FD2F25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tint val="65000"/>
                    </a:schemeClr>
                  </a:gs>
                  <a:gs pos="75000">
                    <a:schemeClr val="accent1">
                      <a:tint val="65000"/>
                      <a:lumMod val="60000"/>
                      <a:lumOff val="40000"/>
                    </a:schemeClr>
                  </a:gs>
                  <a:gs pos="51000">
                    <a:schemeClr val="accent1">
                      <a:tint val="65000"/>
                      <a:alpha val="75000"/>
                    </a:schemeClr>
                  </a:gs>
                  <a:gs pos="100000">
                    <a:schemeClr val="accent1">
                      <a:tint val="65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BE0-42FC-A1C5-2864C5FD2F25}"/>
              </c:ext>
            </c:extLst>
          </c:dPt>
          <c:dPt>
            <c:idx val="6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tint val="48000"/>
                    </a:schemeClr>
                  </a:gs>
                  <a:gs pos="75000">
                    <a:schemeClr val="accent1">
                      <a:tint val="48000"/>
                      <a:lumMod val="60000"/>
                      <a:lumOff val="40000"/>
                    </a:schemeClr>
                  </a:gs>
                  <a:gs pos="51000">
                    <a:schemeClr val="accent1">
                      <a:tint val="48000"/>
                      <a:alpha val="75000"/>
                    </a:schemeClr>
                  </a:gs>
                  <a:gs pos="100000">
                    <a:schemeClr val="accent1">
                      <a:tint val="48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BE0-42FC-A1C5-2864C5FD2F25}"/>
              </c:ext>
            </c:extLst>
          </c:dPt>
          <c:cat>
            <c:strRef>
              <c:f>Sheet1!$A$2:$A$8</c:f>
              <c:strCache>
                <c:ptCount val="7"/>
                <c:pt idx="0">
                  <c:v>Change Price</c:v>
                </c:pt>
                <c:pt idx="1">
                  <c:v>Block Purchase Order Item</c:v>
                </c:pt>
                <c:pt idx="2">
                  <c:v>Set Payment Block</c:v>
                </c:pt>
                <c:pt idx="3">
                  <c:v>Change Currency</c:v>
                </c:pt>
                <c:pt idx="4">
                  <c:v>Delete PO Item</c:v>
                </c:pt>
                <c:pt idx="5">
                  <c:v>Change Quantity</c:v>
                </c:pt>
                <c:pt idx="6">
                  <c:v>Cancel Goods Receipt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110</c:v>
                </c:pt>
                <c:pt idx="1">
                  <c:v>38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17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D-44EE-943E-53D48F60F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6"/>
        <c:overlap val="-58"/>
        <c:axId val="161013039"/>
        <c:axId val="161013519"/>
      </c:barChart>
      <c:catAx>
        <c:axId val="161013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61013519"/>
        <c:crosses val="autoZero"/>
        <c:auto val="1"/>
        <c:lblAlgn val="ctr"/>
        <c:lblOffset val="100"/>
        <c:noMultiLvlLbl val="0"/>
      </c:catAx>
      <c:valAx>
        <c:axId val="161013519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pPr>
            <a:endParaRPr lang="en-US"/>
          </a:p>
        </c:txPr>
        <c:crossAx val="161013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anose="00000500000000000000" pitchFamily="2" charset="0"/>
          <a:cs typeface="Poppins" panose="00000500000000000000" pitchFamily="2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Root Cause Category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4BE-42DE-9D8F-233F72BC558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4BE-42DE-9D8F-233F72BC558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4BE-42DE-9D8F-233F72BC55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Process-Based</c:v>
                </c:pt>
                <c:pt idx="1">
                  <c:v>Attribute-Based</c:v>
                </c:pt>
                <c:pt idx="2">
                  <c:v>Time-Based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40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97-4D94-A26D-F80BACBD2A6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374EB6-FE60-414F-A312-41C41E381014}" type="doc">
      <dgm:prSet loTypeId="urn:microsoft.com/office/officeart/2005/8/layout/default" loCatId="list" qsTypeId="urn:microsoft.com/office/officeart/2005/8/quickstyle/simple2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88273715-41BE-4B59-875D-9ED44A9188DD}">
      <dgm:prSet phldrT="[Text]"/>
      <dgm:spPr/>
      <dgm:t>
        <a:bodyPr/>
        <a:lstStyle/>
        <a:p>
          <a:pPr>
            <a:buNone/>
          </a:pPr>
          <a:r>
            <a:rPr lang="en-IN" b="0" dirty="0"/>
            <a:t>SPEND:</a:t>
          </a:r>
        </a:p>
        <a:p>
          <a:pPr>
            <a:buNone/>
          </a:pPr>
          <a:r>
            <a:rPr lang="en-IN" b="0" dirty="0"/>
            <a:t>• Incorrect payment rate</a:t>
          </a:r>
        </a:p>
        <a:p>
          <a:pPr>
            <a:buNone/>
          </a:pPr>
          <a:r>
            <a:rPr lang="en-IN" b="0" dirty="0"/>
            <a:t>• Total discounts captured</a:t>
          </a:r>
        </a:p>
        <a:p>
          <a:pPr>
            <a:buNone/>
          </a:pPr>
          <a:r>
            <a:rPr lang="en-US" b="0" dirty="0"/>
            <a:t>→ Opportunities: Duplicate Invoices, Lost Cash Discounts</a:t>
          </a:r>
          <a:endParaRPr lang="en-IN" dirty="0"/>
        </a:p>
      </dgm:t>
    </dgm:pt>
    <dgm:pt modelId="{3DCD3EF5-E29C-42C7-8BF0-84C292A37AC4}" type="parTrans" cxnId="{62F1B82E-A9BD-462C-B8EB-D513772179DB}">
      <dgm:prSet/>
      <dgm:spPr/>
      <dgm:t>
        <a:bodyPr/>
        <a:lstStyle/>
        <a:p>
          <a:endParaRPr lang="en-IN"/>
        </a:p>
      </dgm:t>
    </dgm:pt>
    <dgm:pt modelId="{15693D32-5C8C-4A78-B922-05FC35D7045D}" type="sibTrans" cxnId="{62F1B82E-A9BD-462C-B8EB-D513772179DB}">
      <dgm:prSet/>
      <dgm:spPr/>
      <dgm:t>
        <a:bodyPr/>
        <a:lstStyle/>
        <a:p>
          <a:endParaRPr lang="en-IN"/>
        </a:p>
      </dgm:t>
    </dgm:pt>
    <dgm:pt modelId="{CA34AFD4-5952-4047-9001-5669BD28B1D5}">
      <dgm:prSet phldrT="[Text]"/>
      <dgm:spPr/>
      <dgm:t>
        <a:bodyPr/>
        <a:lstStyle/>
        <a:p>
          <a:pPr>
            <a:buNone/>
          </a:pPr>
          <a:r>
            <a:rPr lang="en-IN" b="0" dirty="0"/>
            <a:t>PRODUCTIVITY:</a:t>
          </a:r>
        </a:p>
        <a:p>
          <a:pPr>
            <a:buNone/>
          </a:pPr>
          <a:r>
            <a:rPr lang="en-IN" b="0" dirty="0"/>
            <a:t>• Touchless invoice rate</a:t>
          </a:r>
        </a:p>
        <a:p>
          <a:pPr>
            <a:buNone/>
          </a:pPr>
          <a:r>
            <a:rPr lang="en-IN" b="0" dirty="0"/>
            <a:t>• Invoice processing time</a:t>
          </a:r>
        </a:p>
        <a:p>
          <a:pPr>
            <a:buNone/>
          </a:pPr>
          <a:r>
            <a:rPr lang="en-IN" b="0" dirty="0"/>
            <a:t>• On-time payment rate</a:t>
          </a:r>
        </a:p>
        <a:p>
          <a:pPr>
            <a:buNone/>
          </a:pPr>
          <a:r>
            <a:rPr lang="en-US" b="0" dirty="0"/>
            <a:t>→ Opportunities: Payment Blocks, Manual Rework</a:t>
          </a:r>
          <a:endParaRPr lang="en-IN" dirty="0"/>
        </a:p>
      </dgm:t>
    </dgm:pt>
    <dgm:pt modelId="{E507400C-C3A9-4DFC-83F9-A89829A58CC8}" type="parTrans" cxnId="{30DD844B-234C-4638-A3A6-76672CA5C518}">
      <dgm:prSet/>
      <dgm:spPr/>
      <dgm:t>
        <a:bodyPr/>
        <a:lstStyle/>
        <a:p>
          <a:endParaRPr lang="en-IN"/>
        </a:p>
      </dgm:t>
    </dgm:pt>
    <dgm:pt modelId="{3402C819-63B5-4AD0-92DC-D46D1D3E53BE}" type="sibTrans" cxnId="{30DD844B-234C-4638-A3A6-76672CA5C518}">
      <dgm:prSet/>
      <dgm:spPr/>
      <dgm:t>
        <a:bodyPr/>
        <a:lstStyle/>
        <a:p>
          <a:endParaRPr lang="en-IN"/>
        </a:p>
      </dgm:t>
    </dgm:pt>
    <dgm:pt modelId="{F91CE870-933E-4B85-A51F-D2B2B401CD1E}">
      <dgm:prSet phldrT="[Text]"/>
      <dgm:spPr/>
      <dgm:t>
        <a:bodyPr/>
        <a:lstStyle/>
        <a:p>
          <a:pPr>
            <a:buNone/>
          </a:pPr>
          <a:r>
            <a:rPr lang="en-IN" b="0" dirty="0"/>
            <a:t>WORKING CAPITAL:</a:t>
          </a:r>
        </a:p>
        <a:p>
          <a:pPr>
            <a:buNone/>
          </a:pPr>
          <a:r>
            <a:rPr lang="en-IN" b="0" dirty="0"/>
            <a:t>• Days Payable Outstanding</a:t>
          </a:r>
        </a:p>
        <a:p>
          <a:pPr>
            <a:buNone/>
          </a:pPr>
          <a:r>
            <a:rPr lang="en-US" b="0" dirty="0"/>
            <a:t>→ Opportunities: Payment Term Mismatches, Early Payments</a:t>
          </a:r>
          <a:endParaRPr lang="en-IN" dirty="0"/>
        </a:p>
      </dgm:t>
    </dgm:pt>
    <dgm:pt modelId="{9816C94B-97D8-4705-892B-E2259F5AF4FD}" type="parTrans" cxnId="{F20A0D89-409F-4984-9FE1-DA79AC6CCDD8}">
      <dgm:prSet/>
      <dgm:spPr/>
      <dgm:t>
        <a:bodyPr/>
        <a:lstStyle/>
        <a:p>
          <a:endParaRPr lang="en-IN"/>
        </a:p>
      </dgm:t>
    </dgm:pt>
    <dgm:pt modelId="{93ACAE23-76CC-4E35-8F9E-02DFFC687F02}" type="sibTrans" cxnId="{F20A0D89-409F-4984-9FE1-DA79AC6CCDD8}">
      <dgm:prSet/>
      <dgm:spPr/>
      <dgm:t>
        <a:bodyPr/>
        <a:lstStyle/>
        <a:p>
          <a:endParaRPr lang="en-IN"/>
        </a:p>
      </dgm:t>
    </dgm:pt>
    <dgm:pt modelId="{24A893DA-6D35-4B26-8692-B190BA22F6D7}" type="pres">
      <dgm:prSet presAssocID="{D2374EB6-FE60-414F-A312-41C41E381014}" presName="diagram" presStyleCnt="0">
        <dgm:presLayoutVars>
          <dgm:dir/>
          <dgm:resizeHandles val="exact"/>
        </dgm:presLayoutVars>
      </dgm:prSet>
      <dgm:spPr/>
    </dgm:pt>
    <dgm:pt modelId="{F39FAA62-12C9-4392-BF6F-DE75D59B29D5}" type="pres">
      <dgm:prSet presAssocID="{88273715-41BE-4B59-875D-9ED44A9188DD}" presName="node" presStyleLbl="node1" presStyleIdx="0" presStyleCnt="3">
        <dgm:presLayoutVars>
          <dgm:bulletEnabled val="1"/>
        </dgm:presLayoutVars>
      </dgm:prSet>
      <dgm:spPr/>
    </dgm:pt>
    <dgm:pt modelId="{E535008B-3D09-48E4-84EA-0F7F4D1FF1E5}" type="pres">
      <dgm:prSet presAssocID="{15693D32-5C8C-4A78-B922-05FC35D7045D}" presName="sibTrans" presStyleCnt="0"/>
      <dgm:spPr/>
    </dgm:pt>
    <dgm:pt modelId="{8CB9837D-BDF2-47BF-83DF-8BAFB41482DA}" type="pres">
      <dgm:prSet presAssocID="{CA34AFD4-5952-4047-9001-5669BD28B1D5}" presName="node" presStyleLbl="node1" presStyleIdx="1" presStyleCnt="3">
        <dgm:presLayoutVars>
          <dgm:bulletEnabled val="1"/>
        </dgm:presLayoutVars>
      </dgm:prSet>
      <dgm:spPr/>
    </dgm:pt>
    <dgm:pt modelId="{39631F9A-2E97-4AA5-96D4-748852188803}" type="pres">
      <dgm:prSet presAssocID="{3402C819-63B5-4AD0-92DC-D46D1D3E53BE}" presName="sibTrans" presStyleCnt="0"/>
      <dgm:spPr/>
    </dgm:pt>
    <dgm:pt modelId="{D4CA7755-0651-4F7C-8146-A2A05258F134}" type="pres">
      <dgm:prSet presAssocID="{F91CE870-933E-4B85-A51F-D2B2B401CD1E}" presName="node" presStyleLbl="node1" presStyleIdx="2" presStyleCnt="3">
        <dgm:presLayoutVars>
          <dgm:bulletEnabled val="1"/>
        </dgm:presLayoutVars>
      </dgm:prSet>
      <dgm:spPr/>
    </dgm:pt>
  </dgm:ptLst>
  <dgm:cxnLst>
    <dgm:cxn modelId="{3A23AD01-7D65-42AC-94FC-A30ADE0F7F22}" type="presOf" srcId="{88273715-41BE-4B59-875D-9ED44A9188DD}" destId="{F39FAA62-12C9-4392-BF6F-DE75D59B29D5}" srcOrd="0" destOrd="0" presId="urn:microsoft.com/office/officeart/2005/8/layout/default"/>
    <dgm:cxn modelId="{62F1B82E-A9BD-462C-B8EB-D513772179DB}" srcId="{D2374EB6-FE60-414F-A312-41C41E381014}" destId="{88273715-41BE-4B59-875D-9ED44A9188DD}" srcOrd="0" destOrd="0" parTransId="{3DCD3EF5-E29C-42C7-8BF0-84C292A37AC4}" sibTransId="{15693D32-5C8C-4A78-B922-05FC35D7045D}"/>
    <dgm:cxn modelId="{063C8A41-9FB9-448B-B65F-F4D72CE5ED54}" type="presOf" srcId="{D2374EB6-FE60-414F-A312-41C41E381014}" destId="{24A893DA-6D35-4B26-8692-B190BA22F6D7}" srcOrd="0" destOrd="0" presId="urn:microsoft.com/office/officeart/2005/8/layout/default"/>
    <dgm:cxn modelId="{393A926A-0B9F-4AC9-9913-5D4E9B4FFC14}" type="presOf" srcId="{F91CE870-933E-4B85-A51F-D2B2B401CD1E}" destId="{D4CA7755-0651-4F7C-8146-A2A05258F134}" srcOrd="0" destOrd="0" presId="urn:microsoft.com/office/officeart/2005/8/layout/default"/>
    <dgm:cxn modelId="{30DD844B-234C-4638-A3A6-76672CA5C518}" srcId="{D2374EB6-FE60-414F-A312-41C41E381014}" destId="{CA34AFD4-5952-4047-9001-5669BD28B1D5}" srcOrd="1" destOrd="0" parTransId="{E507400C-C3A9-4DFC-83F9-A89829A58CC8}" sibTransId="{3402C819-63B5-4AD0-92DC-D46D1D3E53BE}"/>
    <dgm:cxn modelId="{F20A0D89-409F-4984-9FE1-DA79AC6CCDD8}" srcId="{D2374EB6-FE60-414F-A312-41C41E381014}" destId="{F91CE870-933E-4B85-A51F-D2B2B401CD1E}" srcOrd="2" destOrd="0" parTransId="{9816C94B-97D8-4705-892B-E2259F5AF4FD}" sibTransId="{93ACAE23-76CC-4E35-8F9E-02DFFC687F02}"/>
    <dgm:cxn modelId="{A16085D8-CABF-4652-9DA2-B26ED5A44329}" type="presOf" srcId="{CA34AFD4-5952-4047-9001-5669BD28B1D5}" destId="{8CB9837D-BDF2-47BF-83DF-8BAFB41482DA}" srcOrd="0" destOrd="0" presId="urn:microsoft.com/office/officeart/2005/8/layout/default"/>
    <dgm:cxn modelId="{DFA280B9-0122-4C00-BFC0-B6B877E0E57D}" type="presParOf" srcId="{24A893DA-6D35-4B26-8692-B190BA22F6D7}" destId="{F39FAA62-12C9-4392-BF6F-DE75D59B29D5}" srcOrd="0" destOrd="0" presId="urn:microsoft.com/office/officeart/2005/8/layout/default"/>
    <dgm:cxn modelId="{F1548E63-E6E7-4EEC-A7C1-F9ED3C25D7AA}" type="presParOf" srcId="{24A893DA-6D35-4B26-8692-B190BA22F6D7}" destId="{E535008B-3D09-48E4-84EA-0F7F4D1FF1E5}" srcOrd="1" destOrd="0" presId="urn:microsoft.com/office/officeart/2005/8/layout/default"/>
    <dgm:cxn modelId="{F9D285A5-51CB-4804-9AAE-2F514B3AA65F}" type="presParOf" srcId="{24A893DA-6D35-4B26-8692-B190BA22F6D7}" destId="{8CB9837D-BDF2-47BF-83DF-8BAFB41482DA}" srcOrd="2" destOrd="0" presId="urn:microsoft.com/office/officeart/2005/8/layout/default"/>
    <dgm:cxn modelId="{2BFBB851-B4C0-44ED-A529-49531E2C9881}" type="presParOf" srcId="{24A893DA-6D35-4B26-8692-B190BA22F6D7}" destId="{39631F9A-2E97-4AA5-96D4-748852188803}" srcOrd="3" destOrd="0" presId="urn:microsoft.com/office/officeart/2005/8/layout/default"/>
    <dgm:cxn modelId="{72D0D9BE-35CD-432B-B4A2-588B712934EF}" type="presParOf" srcId="{24A893DA-6D35-4B26-8692-B190BA22F6D7}" destId="{D4CA7755-0651-4F7C-8146-A2A05258F13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D4C26A-03AC-45B7-AAD7-262CCD3270EF}" type="doc">
      <dgm:prSet loTypeId="urn:microsoft.com/office/officeart/2005/8/layout/process1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453848B9-14F0-4604-8B05-083E03A1C820}">
      <dgm:prSet phldrT="[Text]" phldr="0" custT="1"/>
      <dgm:spPr/>
      <dgm:t>
        <a:bodyPr/>
        <a:lstStyle/>
        <a:p>
          <a:r>
            <a:rPr lang="en-IN" sz="1500" dirty="0"/>
            <a:t>Create PR</a:t>
          </a:r>
        </a:p>
      </dgm:t>
    </dgm:pt>
    <dgm:pt modelId="{695B9A32-B44A-4649-8D3E-3935684BC1BA}" type="parTrans" cxnId="{4E8501D0-60AB-4F6E-8279-33FEB72624BC}">
      <dgm:prSet/>
      <dgm:spPr/>
      <dgm:t>
        <a:bodyPr/>
        <a:lstStyle/>
        <a:p>
          <a:endParaRPr lang="en-IN" sz="1500"/>
        </a:p>
      </dgm:t>
    </dgm:pt>
    <dgm:pt modelId="{EA20969E-9A82-4714-B262-57C6E95EC9D4}" type="sibTrans" cxnId="{4E8501D0-60AB-4F6E-8279-33FEB72624BC}">
      <dgm:prSet custT="1"/>
      <dgm:spPr/>
      <dgm:t>
        <a:bodyPr/>
        <a:lstStyle/>
        <a:p>
          <a:endParaRPr lang="en-IN" sz="1500" dirty="0"/>
        </a:p>
      </dgm:t>
    </dgm:pt>
    <dgm:pt modelId="{ED1991F0-E38D-4B9B-B0F6-C5C5F565202E}">
      <dgm:prSet phldrT="[Text]" phldr="0" custT="1"/>
      <dgm:spPr/>
      <dgm:t>
        <a:bodyPr/>
        <a:lstStyle/>
        <a:p>
          <a:r>
            <a:rPr lang="en-IN" sz="1500" dirty="0"/>
            <a:t>Create PO</a:t>
          </a:r>
        </a:p>
      </dgm:t>
    </dgm:pt>
    <dgm:pt modelId="{3E80190A-4EBC-4B85-93E3-7320D97F09B8}" type="parTrans" cxnId="{3712A927-3C55-4397-992A-EC7DECB7A5A1}">
      <dgm:prSet/>
      <dgm:spPr/>
      <dgm:t>
        <a:bodyPr/>
        <a:lstStyle/>
        <a:p>
          <a:endParaRPr lang="en-IN" sz="1500"/>
        </a:p>
      </dgm:t>
    </dgm:pt>
    <dgm:pt modelId="{0E7F82A9-7BD8-4DD8-8391-7AF5E26167D7}" type="sibTrans" cxnId="{3712A927-3C55-4397-992A-EC7DECB7A5A1}">
      <dgm:prSet custT="1"/>
      <dgm:spPr/>
      <dgm:t>
        <a:bodyPr/>
        <a:lstStyle/>
        <a:p>
          <a:endParaRPr lang="en-IN" sz="1500" dirty="0"/>
        </a:p>
      </dgm:t>
    </dgm:pt>
    <dgm:pt modelId="{F25CA902-DF78-41CB-8C92-366CDC72470C}">
      <dgm:prSet phldrT="[Text]" phldr="0" custT="1"/>
      <dgm:spPr/>
      <dgm:t>
        <a:bodyPr/>
        <a:lstStyle/>
        <a:p>
          <a:r>
            <a:rPr lang="en-IN" sz="1500" dirty="0"/>
            <a:t>Send PO</a:t>
          </a:r>
        </a:p>
      </dgm:t>
    </dgm:pt>
    <dgm:pt modelId="{68E234F5-F7C7-45BA-B399-4AE6B7D37265}" type="parTrans" cxnId="{887AB13D-3164-45B2-9DC0-5BB0EAD6A4A5}">
      <dgm:prSet/>
      <dgm:spPr/>
      <dgm:t>
        <a:bodyPr/>
        <a:lstStyle/>
        <a:p>
          <a:endParaRPr lang="en-IN" sz="1500"/>
        </a:p>
      </dgm:t>
    </dgm:pt>
    <dgm:pt modelId="{3269CC44-2A85-4432-89E8-1CFD410E6DA1}" type="sibTrans" cxnId="{887AB13D-3164-45B2-9DC0-5BB0EAD6A4A5}">
      <dgm:prSet custT="1"/>
      <dgm:spPr/>
      <dgm:t>
        <a:bodyPr/>
        <a:lstStyle/>
        <a:p>
          <a:endParaRPr lang="en-IN" sz="1500" dirty="0"/>
        </a:p>
      </dgm:t>
    </dgm:pt>
    <dgm:pt modelId="{8C745833-71F3-4AEC-AF8F-C38C9B0362E5}">
      <dgm:prSet custT="1"/>
      <dgm:spPr/>
      <dgm:t>
        <a:bodyPr/>
        <a:lstStyle/>
        <a:p>
          <a:r>
            <a:rPr lang="en-IN" sz="1500" dirty="0"/>
            <a:t>Goods receipt </a:t>
          </a:r>
        </a:p>
      </dgm:t>
    </dgm:pt>
    <dgm:pt modelId="{760C1332-5098-4C2F-A723-2A16F0375C18}" type="parTrans" cxnId="{23B53C00-F0F9-45A6-AB05-C5943953A1C8}">
      <dgm:prSet/>
      <dgm:spPr/>
      <dgm:t>
        <a:bodyPr/>
        <a:lstStyle/>
        <a:p>
          <a:endParaRPr lang="en-IN" sz="1500"/>
        </a:p>
      </dgm:t>
    </dgm:pt>
    <dgm:pt modelId="{37D070B3-C748-48DE-8DD0-F10F64913A28}" type="sibTrans" cxnId="{23B53C00-F0F9-45A6-AB05-C5943953A1C8}">
      <dgm:prSet custT="1"/>
      <dgm:spPr/>
      <dgm:t>
        <a:bodyPr/>
        <a:lstStyle/>
        <a:p>
          <a:endParaRPr lang="en-IN" sz="1500" dirty="0"/>
        </a:p>
      </dgm:t>
    </dgm:pt>
    <dgm:pt modelId="{5FE139E9-4872-487F-ACCB-3832FDC9AE2D}">
      <dgm:prSet custT="1"/>
      <dgm:spPr/>
      <dgm:t>
        <a:bodyPr/>
        <a:lstStyle/>
        <a:p>
          <a:r>
            <a:rPr lang="en-IN" sz="1500" dirty="0"/>
            <a:t>Invoice receipt</a:t>
          </a:r>
        </a:p>
      </dgm:t>
    </dgm:pt>
    <dgm:pt modelId="{9BA83925-B7E2-4915-8E90-F861E21ACDFE}" type="parTrans" cxnId="{CFA13A09-84D7-4C5F-B54F-012E4B19578E}">
      <dgm:prSet/>
      <dgm:spPr/>
      <dgm:t>
        <a:bodyPr/>
        <a:lstStyle/>
        <a:p>
          <a:endParaRPr lang="en-IN" sz="1500"/>
        </a:p>
      </dgm:t>
    </dgm:pt>
    <dgm:pt modelId="{9C0F1CDA-8CDF-48B4-B3F6-628B14400B1B}" type="sibTrans" cxnId="{CFA13A09-84D7-4C5F-B54F-012E4B19578E}">
      <dgm:prSet custT="1"/>
      <dgm:spPr/>
      <dgm:t>
        <a:bodyPr/>
        <a:lstStyle/>
        <a:p>
          <a:endParaRPr lang="en-IN" sz="1500" dirty="0"/>
        </a:p>
      </dgm:t>
    </dgm:pt>
    <dgm:pt modelId="{7F92A9B9-DDFB-4E58-8DBC-A9F8127DC07D}">
      <dgm:prSet custT="1"/>
      <dgm:spPr/>
      <dgm:t>
        <a:bodyPr/>
        <a:lstStyle/>
        <a:p>
          <a:r>
            <a:rPr lang="en-IN" sz="1500" dirty="0"/>
            <a:t>Clear invoice</a:t>
          </a:r>
        </a:p>
      </dgm:t>
    </dgm:pt>
    <dgm:pt modelId="{5FC06BD4-BA0B-44B8-B4F4-70B8A26A7493}" type="parTrans" cxnId="{0CD2C36A-25F1-4BA1-8230-5FFBB3C69871}">
      <dgm:prSet/>
      <dgm:spPr/>
      <dgm:t>
        <a:bodyPr/>
        <a:lstStyle/>
        <a:p>
          <a:endParaRPr lang="en-IN" sz="1500"/>
        </a:p>
      </dgm:t>
    </dgm:pt>
    <dgm:pt modelId="{11112990-00AC-4155-88FA-FCA7C912B4EA}" type="sibTrans" cxnId="{0CD2C36A-25F1-4BA1-8230-5FFBB3C69871}">
      <dgm:prSet/>
      <dgm:spPr/>
      <dgm:t>
        <a:bodyPr/>
        <a:lstStyle/>
        <a:p>
          <a:endParaRPr lang="en-IN" sz="1500"/>
        </a:p>
      </dgm:t>
    </dgm:pt>
    <dgm:pt modelId="{FE41DB94-656B-4E2D-8819-9BB395E5DC25}" type="pres">
      <dgm:prSet presAssocID="{CED4C26A-03AC-45B7-AAD7-262CCD3270EF}" presName="Name0" presStyleCnt="0">
        <dgm:presLayoutVars>
          <dgm:dir/>
          <dgm:resizeHandles val="exact"/>
        </dgm:presLayoutVars>
      </dgm:prSet>
      <dgm:spPr/>
    </dgm:pt>
    <dgm:pt modelId="{32D3025B-E207-4475-BC41-7AC3C5B333B7}" type="pres">
      <dgm:prSet presAssocID="{453848B9-14F0-4604-8B05-083E03A1C820}" presName="node" presStyleLbl="node1" presStyleIdx="0" presStyleCnt="6">
        <dgm:presLayoutVars>
          <dgm:bulletEnabled val="1"/>
        </dgm:presLayoutVars>
      </dgm:prSet>
      <dgm:spPr/>
    </dgm:pt>
    <dgm:pt modelId="{C65E7ACB-00CF-44A7-B980-279138F06B1D}" type="pres">
      <dgm:prSet presAssocID="{EA20969E-9A82-4714-B262-57C6E95EC9D4}" presName="sibTrans" presStyleLbl="sibTrans2D1" presStyleIdx="0" presStyleCnt="5"/>
      <dgm:spPr/>
    </dgm:pt>
    <dgm:pt modelId="{6DD196D1-75EA-4BF9-8F02-8AEB2B55E0AE}" type="pres">
      <dgm:prSet presAssocID="{EA20969E-9A82-4714-B262-57C6E95EC9D4}" presName="connectorText" presStyleLbl="sibTrans2D1" presStyleIdx="0" presStyleCnt="5"/>
      <dgm:spPr/>
    </dgm:pt>
    <dgm:pt modelId="{5BAF583D-1A84-4EE8-88DB-41C02D31CA11}" type="pres">
      <dgm:prSet presAssocID="{ED1991F0-E38D-4B9B-B0F6-C5C5F565202E}" presName="node" presStyleLbl="node1" presStyleIdx="1" presStyleCnt="6">
        <dgm:presLayoutVars>
          <dgm:bulletEnabled val="1"/>
        </dgm:presLayoutVars>
      </dgm:prSet>
      <dgm:spPr/>
    </dgm:pt>
    <dgm:pt modelId="{F5490CE6-3F3F-449D-AE08-015C2920CAAB}" type="pres">
      <dgm:prSet presAssocID="{0E7F82A9-7BD8-4DD8-8391-7AF5E26167D7}" presName="sibTrans" presStyleLbl="sibTrans2D1" presStyleIdx="1" presStyleCnt="5"/>
      <dgm:spPr/>
    </dgm:pt>
    <dgm:pt modelId="{F86E8C20-54CA-40FB-AECD-68CF22F9D696}" type="pres">
      <dgm:prSet presAssocID="{0E7F82A9-7BD8-4DD8-8391-7AF5E26167D7}" presName="connectorText" presStyleLbl="sibTrans2D1" presStyleIdx="1" presStyleCnt="5"/>
      <dgm:spPr/>
    </dgm:pt>
    <dgm:pt modelId="{E897DB30-383B-4439-907E-BBA18F085A2F}" type="pres">
      <dgm:prSet presAssocID="{F25CA902-DF78-41CB-8C92-366CDC72470C}" presName="node" presStyleLbl="node1" presStyleIdx="2" presStyleCnt="6">
        <dgm:presLayoutVars>
          <dgm:bulletEnabled val="1"/>
        </dgm:presLayoutVars>
      </dgm:prSet>
      <dgm:spPr/>
    </dgm:pt>
    <dgm:pt modelId="{1D6BBEAB-9EB9-42E9-AF8E-61E39E8543F4}" type="pres">
      <dgm:prSet presAssocID="{3269CC44-2A85-4432-89E8-1CFD410E6DA1}" presName="sibTrans" presStyleLbl="sibTrans2D1" presStyleIdx="2" presStyleCnt="5"/>
      <dgm:spPr/>
    </dgm:pt>
    <dgm:pt modelId="{0DF477D5-9F40-467E-B7A5-F0BC4BC09D3D}" type="pres">
      <dgm:prSet presAssocID="{3269CC44-2A85-4432-89E8-1CFD410E6DA1}" presName="connectorText" presStyleLbl="sibTrans2D1" presStyleIdx="2" presStyleCnt="5"/>
      <dgm:spPr/>
    </dgm:pt>
    <dgm:pt modelId="{C7E907EB-4CA5-4E66-A226-F5098F3FBAD7}" type="pres">
      <dgm:prSet presAssocID="{8C745833-71F3-4AEC-AF8F-C38C9B0362E5}" presName="node" presStyleLbl="node1" presStyleIdx="3" presStyleCnt="6">
        <dgm:presLayoutVars>
          <dgm:bulletEnabled val="1"/>
        </dgm:presLayoutVars>
      </dgm:prSet>
      <dgm:spPr/>
    </dgm:pt>
    <dgm:pt modelId="{A6FBE79C-63DE-4195-BC0F-911D9F3792D0}" type="pres">
      <dgm:prSet presAssocID="{37D070B3-C748-48DE-8DD0-F10F64913A28}" presName="sibTrans" presStyleLbl="sibTrans2D1" presStyleIdx="3" presStyleCnt="5"/>
      <dgm:spPr/>
    </dgm:pt>
    <dgm:pt modelId="{7FA11849-3560-44F1-9CB0-2CE8FB2BAF1D}" type="pres">
      <dgm:prSet presAssocID="{37D070B3-C748-48DE-8DD0-F10F64913A28}" presName="connectorText" presStyleLbl="sibTrans2D1" presStyleIdx="3" presStyleCnt="5"/>
      <dgm:spPr/>
    </dgm:pt>
    <dgm:pt modelId="{48E4077A-EC73-44A0-86E3-13B6E6EB1672}" type="pres">
      <dgm:prSet presAssocID="{5FE139E9-4872-487F-ACCB-3832FDC9AE2D}" presName="node" presStyleLbl="node1" presStyleIdx="4" presStyleCnt="6">
        <dgm:presLayoutVars>
          <dgm:bulletEnabled val="1"/>
        </dgm:presLayoutVars>
      </dgm:prSet>
      <dgm:spPr/>
    </dgm:pt>
    <dgm:pt modelId="{97FB32CD-6470-4C0B-B1B0-F9122DE53006}" type="pres">
      <dgm:prSet presAssocID="{9C0F1CDA-8CDF-48B4-B3F6-628B14400B1B}" presName="sibTrans" presStyleLbl="sibTrans2D1" presStyleIdx="4" presStyleCnt="5"/>
      <dgm:spPr/>
    </dgm:pt>
    <dgm:pt modelId="{EE3F0F77-0C2B-49B3-AE77-10E67AD0571A}" type="pres">
      <dgm:prSet presAssocID="{9C0F1CDA-8CDF-48B4-B3F6-628B14400B1B}" presName="connectorText" presStyleLbl="sibTrans2D1" presStyleIdx="4" presStyleCnt="5"/>
      <dgm:spPr/>
    </dgm:pt>
    <dgm:pt modelId="{27864262-93CF-4A5E-A7B9-FC320D89E0BE}" type="pres">
      <dgm:prSet presAssocID="{7F92A9B9-DDFB-4E58-8DBC-A9F8127DC07D}" presName="node" presStyleLbl="node1" presStyleIdx="5" presStyleCnt="6">
        <dgm:presLayoutVars>
          <dgm:bulletEnabled val="1"/>
        </dgm:presLayoutVars>
      </dgm:prSet>
      <dgm:spPr/>
    </dgm:pt>
  </dgm:ptLst>
  <dgm:cxnLst>
    <dgm:cxn modelId="{23B53C00-F0F9-45A6-AB05-C5943953A1C8}" srcId="{CED4C26A-03AC-45B7-AAD7-262CCD3270EF}" destId="{8C745833-71F3-4AEC-AF8F-C38C9B0362E5}" srcOrd="3" destOrd="0" parTransId="{760C1332-5098-4C2F-A723-2A16F0375C18}" sibTransId="{37D070B3-C748-48DE-8DD0-F10F64913A28}"/>
    <dgm:cxn modelId="{CFA13A09-84D7-4C5F-B54F-012E4B19578E}" srcId="{CED4C26A-03AC-45B7-AAD7-262CCD3270EF}" destId="{5FE139E9-4872-487F-ACCB-3832FDC9AE2D}" srcOrd="4" destOrd="0" parTransId="{9BA83925-B7E2-4915-8E90-F861E21ACDFE}" sibTransId="{9C0F1CDA-8CDF-48B4-B3F6-628B14400B1B}"/>
    <dgm:cxn modelId="{7664AD19-C389-4D50-A870-F4446E18E9E0}" type="presOf" srcId="{0E7F82A9-7BD8-4DD8-8391-7AF5E26167D7}" destId="{F5490CE6-3F3F-449D-AE08-015C2920CAAB}" srcOrd="0" destOrd="0" presId="urn:microsoft.com/office/officeart/2005/8/layout/process1"/>
    <dgm:cxn modelId="{3712A927-3C55-4397-992A-EC7DECB7A5A1}" srcId="{CED4C26A-03AC-45B7-AAD7-262CCD3270EF}" destId="{ED1991F0-E38D-4B9B-B0F6-C5C5F565202E}" srcOrd="1" destOrd="0" parTransId="{3E80190A-4EBC-4B85-93E3-7320D97F09B8}" sibTransId="{0E7F82A9-7BD8-4DD8-8391-7AF5E26167D7}"/>
    <dgm:cxn modelId="{348BC13A-290E-40E9-8C64-9EEEE4B5BE96}" type="presOf" srcId="{3269CC44-2A85-4432-89E8-1CFD410E6DA1}" destId="{1D6BBEAB-9EB9-42E9-AF8E-61E39E8543F4}" srcOrd="0" destOrd="0" presId="urn:microsoft.com/office/officeart/2005/8/layout/process1"/>
    <dgm:cxn modelId="{887AB13D-3164-45B2-9DC0-5BB0EAD6A4A5}" srcId="{CED4C26A-03AC-45B7-AAD7-262CCD3270EF}" destId="{F25CA902-DF78-41CB-8C92-366CDC72470C}" srcOrd="2" destOrd="0" parTransId="{68E234F5-F7C7-45BA-B399-4AE6B7D37265}" sibTransId="{3269CC44-2A85-4432-89E8-1CFD410E6DA1}"/>
    <dgm:cxn modelId="{6CC79E43-9BD6-4446-A626-3CDFFA0D7890}" type="presOf" srcId="{ED1991F0-E38D-4B9B-B0F6-C5C5F565202E}" destId="{5BAF583D-1A84-4EE8-88DB-41C02D31CA11}" srcOrd="0" destOrd="0" presId="urn:microsoft.com/office/officeart/2005/8/layout/process1"/>
    <dgm:cxn modelId="{FCE93664-4348-4BB9-8EC6-AA3C3C3C4C6E}" type="presOf" srcId="{9C0F1CDA-8CDF-48B4-B3F6-628B14400B1B}" destId="{97FB32CD-6470-4C0B-B1B0-F9122DE53006}" srcOrd="0" destOrd="0" presId="urn:microsoft.com/office/officeart/2005/8/layout/process1"/>
    <dgm:cxn modelId="{8190E566-655B-4089-AE45-C1EBFC954603}" type="presOf" srcId="{453848B9-14F0-4604-8B05-083E03A1C820}" destId="{32D3025B-E207-4475-BC41-7AC3C5B333B7}" srcOrd="0" destOrd="0" presId="urn:microsoft.com/office/officeart/2005/8/layout/process1"/>
    <dgm:cxn modelId="{6EF6C847-6689-4238-8711-A9CFE4154EBF}" type="presOf" srcId="{0E7F82A9-7BD8-4DD8-8391-7AF5E26167D7}" destId="{F86E8C20-54CA-40FB-AECD-68CF22F9D696}" srcOrd="1" destOrd="0" presId="urn:microsoft.com/office/officeart/2005/8/layout/process1"/>
    <dgm:cxn modelId="{0CD2C36A-25F1-4BA1-8230-5FFBB3C69871}" srcId="{CED4C26A-03AC-45B7-AAD7-262CCD3270EF}" destId="{7F92A9B9-DDFB-4E58-8DBC-A9F8127DC07D}" srcOrd="5" destOrd="0" parTransId="{5FC06BD4-BA0B-44B8-B4F4-70B8A26A7493}" sibTransId="{11112990-00AC-4155-88FA-FCA7C912B4EA}"/>
    <dgm:cxn modelId="{2F50636B-32EC-43E3-A69C-46AC45B05BEA}" type="presOf" srcId="{8C745833-71F3-4AEC-AF8F-C38C9B0362E5}" destId="{C7E907EB-4CA5-4E66-A226-F5098F3FBAD7}" srcOrd="0" destOrd="0" presId="urn:microsoft.com/office/officeart/2005/8/layout/process1"/>
    <dgm:cxn modelId="{E4D88359-C856-407C-9F28-4073BB6D5F8B}" type="presOf" srcId="{EA20969E-9A82-4714-B262-57C6E95EC9D4}" destId="{C65E7ACB-00CF-44A7-B980-279138F06B1D}" srcOrd="0" destOrd="0" presId="urn:microsoft.com/office/officeart/2005/8/layout/process1"/>
    <dgm:cxn modelId="{D5D9B7B2-7D65-4015-BE50-3DB14D51B45F}" type="presOf" srcId="{5FE139E9-4872-487F-ACCB-3832FDC9AE2D}" destId="{48E4077A-EC73-44A0-86E3-13B6E6EB1672}" srcOrd="0" destOrd="0" presId="urn:microsoft.com/office/officeart/2005/8/layout/process1"/>
    <dgm:cxn modelId="{1D644AB4-6F4D-412E-8BC5-7B9F38F24B22}" type="presOf" srcId="{EA20969E-9A82-4714-B262-57C6E95EC9D4}" destId="{6DD196D1-75EA-4BF9-8F02-8AEB2B55E0AE}" srcOrd="1" destOrd="0" presId="urn:microsoft.com/office/officeart/2005/8/layout/process1"/>
    <dgm:cxn modelId="{4B2C63BB-B8FC-4007-8A21-88328021A14B}" type="presOf" srcId="{37D070B3-C748-48DE-8DD0-F10F64913A28}" destId="{7FA11849-3560-44F1-9CB0-2CE8FB2BAF1D}" srcOrd="1" destOrd="0" presId="urn:microsoft.com/office/officeart/2005/8/layout/process1"/>
    <dgm:cxn modelId="{FC278BC0-348E-410B-9655-6D830A3E92F9}" type="presOf" srcId="{CED4C26A-03AC-45B7-AAD7-262CCD3270EF}" destId="{FE41DB94-656B-4E2D-8819-9BB395E5DC25}" srcOrd="0" destOrd="0" presId="urn:microsoft.com/office/officeart/2005/8/layout/process1"/>
    <dgm:cxn modelId="{AC2CDEC2-7583-4291-A829-7609F6B8EE60}" type="presOf" srcId="{F25CA902-DF78-41CB-8C92-366CDC72470C}" destId="{E897DB30-383B-4439-907E-BBA18F085A2F}" srcOrd="0" destOrd="0" presId="urn:microsoft.com/office/officeart/2005/8/layout/process1"/>
    <dgm:cxn modelId="{4E8501D0-60AB-4F6E-8279-33FEB72624BC}" srcId="{CED4C26A-03AC-45B7-AAD7-262CCD3270EF}" destId="{453848B9-14F0-4604-8B05-083E03A1C820}" srcOrd="0" destOrd="0" parTransId="{695B9A32-B44A-4649-8D3E-3935684BC1BA}" sibTransId="{EA20969E-9A82-4714-B262-57C6E95EC9D4}"/>
    <dgm:cxn modelId="{D533D5D7-2EEA-4208-871D-C5059B499A57}" type="presOf" srcId="{7F92A9B9-DDFB-4E58-8DBC-A9F8127DC07D}" destId="{27864262-93CF-4A5E-A7B9-FC320D89E0BE}" srcOrd="0" destOrd="0" presId="urn:microsoft.com/office/officeart/2005/8/layout/process1"/>
    <dgm:cxn modelId="{26D2B3E0-0883-4BD4-A31D-6F13E83C2857}" type="presOf" srcId="{9C0F1CDA-8CDF-48B4-B3F6-628B14400B1B}" destId="{EE3F0F77-0C2B-49B3-AE77-10E67AD0571A}" srcOrd="1" destOrd="0" presId="urn:microsoft.com/office/officeart/2005/8/layout/process1"/>
    <dgm:cxn modelId="{5DD7BAEF-28B9-4B14-A49C-DF130CCA38D1}" type="presOf" srcId="{3269CC44-2A85-4432-89E8-1CFD410E6DA1}" destId="{0DF477D5-9F40-467E-B7A5-F0BC4BC09D3D}" srcOrd="1" destOrd="0" presId="urn:microsoft.com/office/officeart/2005/8/layout/process1"/>
    <dgm:cxn modelId="{C74BB6FF-0AF4-4857-B521-BFCA268B8B4B}" type="presOf" srcId="{37D070B3-C748-48DE-8DD0-F10F64913A28}" destId="{A6FBE79C-63DE-4195-BC0F-911D9F3792D0}" srcOrd="0" destOrd="0" presId="urn:microsoft.com/office/officeart/2005/8/layout/process1"/>
    <dgm:cxn modelId="{52A0E469-92AF-470A-8BAF-E902809B60E3}" type="presParOf" srcId="{FE41DB94-656B-4E2D-8819-9BB395E5DC25}" destId="{32D3025B-E207-4475-BC41-7AC3C5B333B7}" srcOrd="0" destOrd="0" presId="urn:microsoft.com/office/officeart/2005/8/layout/process1"/>
    <dgm:cxn modelId="{12AD7A18-9BFB-44EE-9CD7-A9D8137A482D}" type="presParOf" srcId="{FE41DB94-656B-4E2D-8819-9BB395E5DC25}" destId="{C65E7ACB-00CF-44A7-B980-279138F06B1D}" srcOrd="1" destOrd="0" presId="urn:microsoft.com/office/officeart/2005/8/layout/process1"/>
    <dgm:cxn modelId="{74EA8048-E70C-4B41-82C8-4D2D7313C0A9}" type="presParOf" srcId="{C65E7ACB-00CF-44A7-B980-279138F06B1D}" destId="{6DD196D1-75EA-4BF9-8F02-8AEB2B55E0AE}" srcOrd="0" destOrd="0" presId="urn:microsoft.com/office/officeart/2005/8/layout/process1"/>
    <dgm:cxn modelId="{8CBDE922-5551-4C5E-B105-3F59998F2DA0}" type="presParOf" srcId="{FE41DB94-656B-4E2D-8819-9BB395E5DC25}" destId="{5BAF583D-1A84-4EE8-88DB-41C02D31CA11}" srcOrd="2" destOrd="0" presId="urn:microsoft.com/office/officeart/2005/8/layout/process1"/>
    <dgm:cxn modelId="{E610AD70-9BEB-4E70-B711-A1328ACAA9EF}" type="presParOf" srcId="{FE41DB94-656B-4E2D-8819-9BB395E5DC25}" destId="{F5490CE6-3F3F-449D-AE08-015C2920CAAB}" srcOrd="3" destOrd="0" presId="urn:microsoft.com/office/officeart/2005/8/layout/process1"/>
    <dgm:cxn modelId="{0AE49633-BF7F-4EFD-9604-557F27C40B0B}" type="presParOf" srcId="{F5490CE6-3F3F-449D-AE08-015C2920CAAB}" destId="{F86E8C20-54CA-40FB-AECD-68CF22F9D696}" srcOrd="0" destOrd="0" presId="urn:microsoft.com/office/officeart/2005/8/layout/process1"/>
    <dgm:cxn modelId="{4660CA96-7C1F-465C-90E1-708BF943BD5E}" type="presParOf" srcId="{FE41DB94-656B-4E2D-8819-9BB395E5DC25}" destId="{E897DB30-383B-4439-907E-BBA18F085A2F}" srcOrd="4" destOrd="0" presId="urn:microsoft.com/office/officeart/2005/8/layout/process1"/>
    <dgm:cxn modelId="{4B14A7F4-9F43-4580-8329-FBACB3645576}" type="presParOf" srcId="{FE41DB94-656B-4E2D-8819-9BB395E5DC25}" destId="{1D6BBEAB-9EB9-42E9-AF8E-61E39E8543F4}" srcOrd="5" destOrd="0" presId="urn:microsoft.com/office/officeart/2005/8/layout/process1"/>
    <dgm:cxn modelId="{0048A678-413D-4DCB-AAA3-415D4E749E14}" type="presParOf" srcId="{1D6BBEAB-9EB9-42E9-AF8E-61E39E8543F4}" destId="{0DF477D5-9F40-467E-B7A5-F0BC4BC09D3D}" srcOrd="0" destOrd="0" presId="urn:microsoft.com/office/officeart/2005/8/layout/process1"/>
    <dgm:cxn modelId="{5D8DA709-26F9-41CF-B7C0-D862AE2BC028}" type="presParOf" srcId="{FE41DB94-656B-4E2D-8819-9BB395E5DC25}" destId="{C7E907EB-4CA5-4E66-A226-F5098F3FBAD7}" srcOrd="6" destOrd="0" presId="urn:microsoft.com/office/officeart/2005/8/layout/process1"/>
    <dgm:cxn modelId="{66A88378-A219-4BB9-A7B9-817E800A80F3}" type="presParOf" srcId="{FE41DB94-656B-4E2D-8819-9BB395E5DC25}" destId="{A6FBE79C-63DE-4195-BC0F-911D9F3792D0}" srcOrd="7" destOrd="0" presId="urn:microsoft.com/office/officeart/2005/8/layout/process1"/>
    <dgm:cxn modelId="{2CCCED00-7A6C-4C5C-9B88-3024BFDA1467}" type="presParOf" srcId="{A6FBE79C-63DE-4195-BC0F-911D9F3792D0}" destId="{7FA11849-3560-44F1-9CB0-2CE8FB2BAF1D}" srcOrd="0" destOrd="0" presId="urn:microsoft.com/office/officeart/2005/8/layout/process1"/>
    <dgm:cxn modelId="{F7905747-3E5B-461E-BCE9-F619CB14BAF0}" type="presParOf" srcId="{FE41DB94-656B-4E2D-8819-9BB395E5DC25}" destId="{48E4077A-EC73-44A0-86E3-13B6E6EB1672}" srcOrd="8" destOrd="0" presId="urn:microsoft.com/office/officeart/2005/8/layout/process1"/>
    <dgm:cxn modelId="{7C2BD87B-C5E3-41D3-B216-80B64D5265EB}" type="presParOf" srcId="{FE41DB94-656B-4E2D-8819-9BB395E5DC25}" destId="{97FB32CD-6470-4C0B-B1B0-F9122DE53006}" srcOrd="9" destOrd="0" presId="urn:microsoft.com/office/officeart/2005/8/layout/process1"/>
    <dgm:cxn modelId="{0CA0EDEA-D496-4DB6-A34A-B7833796010D}" type="presParOf" srcId="{97FB32CD-6470-4C0B-B1B0-F9122DE53006}" destId="{EE3F0F77-0C2B-49B3-AE77-10E67AD0571A}" srcOrd="0" destOrd="0" presId="urn:microsoft.com/office/officeart/2005/8/layout/process1"/>
    <dgm:cxn modelId="{3D06DF5F-05B9-42D9-A436-F9F39319B4A6}" type="presParOf" srcId="{FE41DB94-656B-4E2D-8819-9BB395E5DC25}" destId="{27864262-93CF-4A5E-A7B9-FC320D89E0B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AC278F-B484-468E-80C6-83D47B2F377D}" type="doc">
      <dgm:prSet loTypeId="urn:microsoft.com/office/officeart/2005/8/layout/matrix2" loCatId="matrix" qsTypeId="urn:microsoft.com/office/officeart/2005/8/quickstyle/simple5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52117917-5340-47BB-86CC-EAD21F61C843}">
      <dgm:prSet phldrT="[Text]" phldr="0" custT="1"/>
      <dgm:spPr/>
      <dgm:t>
        <a:bodyPr/>
        <a:lstStyle/>
        <a:p>
          <a:r>
            <a:rPr lang="en-IN" sz="1050" dirty="0"/>
            <a:t>Priority 3</a:t>
          </a:r>
        </a:p>
        <a:p>
          <a:endParaRPr lang="en-IN" sz="1050" dirty="0"/>
        </a:p>
        <a:p>
          <a:r>
            <a:rPr lang="en-IN" sz="1050" dirty="0"/>
            <a:t>Big bets</a:t>
          </a:r>
        </a:p>
        <a:p>
          <a:endParaRPr lang="en-IN" sz="1050" dirty="0"/>
        </a:p>
        <a:p>
          <a:r>
            <a:rPr lang="en-IN" sz="1050" dirty="0"/>
            <a:t>High value + fast </a:t>
          </a:r>
        </a:p>
      </dgm:t>
    </dgm:pt>
    <dgm:pt modelId="{C2195E97-5D3B-4DFE-8064-5C65B812A922}" type="parTrans" cxnId="{E9D428F5-A49F-4F71-A58F-51F753D70C40}">
      <dgm:prSet/>
      <dgm:spPr/>
      <dgm:t>
        <a:bodyPr/>
        <a:lstStyle/>
        <a:p>
          <a:endParaRPr lang="en-IN" sz="1050"/>
        </a:p>
      </dgm:t>
    </dgm:pt>
    <dgm:pt modelId="{2438FD38-BD64-421A-AEA9-CDCC456DFFE1}" type="sibTrans" cxnId="{E9D428F5-A49F-4F71-A58F-51F753D70C40}">
      <dgm:prSet/>
      <dgm:spPr/>
      <dgm:t>
        <a:bodyPr/>
        <a:lstStyle/>
        <a:p>
          <a:endParaRPr lang="en-IN" sz="1050"/>
        </a:p>
      </dgm:t>
    </dgm:pt>
    <dgm:pt modelId="{49B86C15-507E-40A8-A821-9D39BF9C922B}">
      <dgm:prSet phldrT="[Text]" phldr="0" custT="1"/>
      <dgm:spPr/>
      <dgm:t>
        <a:bodyPr/>
        <a:lstStyle/>
        <a:p>
          <a:r>
            <a:rPr lang="en-IN" sz="1050" dirty="0"/>
            <a:t>Priority 1</a:t>
          </a:r>
        </a:p>
        <a:p>
          <a:endParaRPr lang="en-IN" sz="1050" dirty="0"/>
        </a:p>
        <a:p>
          <a:r>
            <a:rPr lang="en-IN" sz="1050" dirty="0"/>
            <a:t>Opportunities – </a:t>
          </a:r>
        </a:p>
        <a:p>
          <a:r>
            <a:rPr lang="en-IN" sz="1050" dirty="0"/>
            <a:t>1] payment and PO blocks</a:t>
          </a:r>
        </a:p>
        <a:p>
          <a:r>
            <a:rPr lang="en-IN" sz="1050" dirty="0"/>
            <a:t>2] price deviation rework</a:t>
          </a:r>
        </a:p>
      </dgm:t>
    </dgm:pt>
    <dgm:pt modelId="{C491F302-CDA1-49B0-B350-DB4DBF1713CF}" type="parTrans" cxnId="{E3FD8609-EE54-44D3-B21D-E57A138E10EE}">
      <dgm:prSet/>
      <dgm:spPr/>
      <dgm:t>
        <a:bodyPr/>
        <a:lstStyle/>
        <a:p>
          <a:endParaRPr lang="en-IN" sz="1050"/>
        </a:p>
      </dgm:t>
    </dgm:pt>
    <dgm:pt modelId="{7523D90C-1105-4482-A385-EDA6612ED0AB}" type="sibTrans" cxnId="{E3FD8609-EE54-44D3-B21D-E57A138E10EE}">
      <dgm:prSet/>
      <dgm:spPr/>
      <dgm:t>
        <a:bodyPr/>
        <a:lstStyle/>
        <a:p>
          <a:endParaRPr lang="en-IN" sz="1050"/>
        </a:p>
      </dgm:t>
    </dgm:pt>
    <dgm:pt modelId="{AB9CE42D-E26A-4A96-84FC-08C9F3812F40}">
      <dgm:prSet phldrT="[Text]" phldr="0" custT="1"/>
      <dgm:spPr/>
      <dgm:t>
        <a:bodyPr/>
        <a:lstStyle/>
        <a:p>
          <a:r>
            <a:rPr lang="en-IN" sz="1050" dirty="0"/>
            <a:t>Priority 4 </a:t>
          </a:r>
        </a:p>
        <a:p>
          <a:endParaRPr lang="en-IN" sz="1050" dirty="0"/>
        </a:p>
        <a:p>
          <a:r>
            <a:rPr lang="en-IN" sz="1050" dirty="0"/>
            <a:t>Long term projects</a:t>
          </a:r>
        </a:p>
        <a:p>
          <a:endParaRPr lang="en-IN" sz="1050" dirty="0"/>
        </a:p>
        <a:p>
          <a:r>
            <a:rPr lang="en-IN" sz="1050" dirty="0"/>
            <a:t>Medium value + slow. Consider in future</a:t>
          </a:r>
        </a:p>
      </dgm:t>
    </dgm:pt>
    <dgm:pt modelId="{B6D45799-A28C-4FCE-B226-602B1E82FBB8}" type="parTrans" cxnId="{E7F9BE08-55BD-47D4-B345-6A7B2E22FC68}">
      <dgm:prSet/>
      <dgm:spPr/>
      <dgm:t>
        <a:bodyPr/>
        <a:lstStyle/>
        <a:p>
          <a:endParaRPr lang="en-IN" sz="1050"/>
        </a:p>
      </dgm:t>
    </dgm:pt>
    <dgm:pt modelId="{9BF1262E-092B-4194-B6F9-E8B1FF52430D}" type="sibTrans" cxnId="{E7F9BE08-55BD-47D4-B345-6A7B2E22FC68}">
      <dgm:prSet/>
      <dgm:spPr/>
      <dgm:t>
        <a:bodyPr/>
        <a:lstStyle/>
        <a:p>
          <a:endParaRPr lang="en-IN" sz="1050"/>
        </a:p>
      </dgm:t>
    </dgm:pt>
    <dgm:pt modelId="{7B0C996A-BCBC-476C-A82D-935366C373CC}">
      <dgm:prSet phldrT="[Text]" phldr="0" custT="1"/>
      <dgm:spPr/>
      <dgm:t>
        <a:bodyPr/>
        <a:lstStyle/>
        <a:p>
          <a:r>
            <a:rPr lang="en-IN" sz="1050" dirty="0"/>
            <a:t>Priority 2</a:t>
          </a:r>
        </a:p>
        <a:p>
          <a:endParaRPr lang="en-IN" sz="1050" dirty="0"/>
        </a:p>
        <a:p>
          <a:r>
            <a:rPr lang="en-IN" sz="1050" dirty="0"/>
            <a:t>Medium value + fast quick wins with moderate impact</a:t>
          </a:r>
        </a:p>
      </dgm:t>
    </dgm:pt>
    <dgm:pt modelId="{DAE6F9DA-CCCB-4745-A00B-AAB07F4D5E82}" type="parTrans" cxnId="{E8420F5C-3D35-42FD-B4AF-D7CA7825C333}">
      <dgm:prSet/>
      <dgm:spPr/>
      <dgm:t>
        <a:bodyPr/>
        <a:lstStyle/>
        <a:p>
          <a:endParaRPr lang="en-IN" sz="1050"/>
        </a:p>
      </dgm:t>
    </dgm:pt>
    <dgm:pt modelId="{AB6482FA-C2D5-4D74-8358-24C4C0DA9757}" type="sibTrans" cxnId="{E8420F5C-3D35-42FD-B4AF-D7CA7825C333}">
      <dgm:prSet/>
      <dgm:spPr/>
      <dgm:t>
        <a:bodyPr/>
        <a:lstStyle/>
        <a:p>
          <a:endParaRPr lang="en-IN" sz="1050"/>
        </a:p>
      </dgm:t>
    </dgm:pt>
    <dgm:pt modelId="{70585176-FA1D-4F58-93A8-FD7F14DBF9D7}" type="pres">
      <dgm:prSet presAssocID="{DFAC278F-B484-468E-80C6-83D47B2F377D}" presName="matrix" presStyleCnt="0">
        <dgm:presLayoutVars>
          <dgm:chMax val="1"/>
          <dgm:dir/>
          <dgm:resizeHandles val="exact"/>
        </dgm:presLayoutVars>
      </dgm:prSet>
      <dgm:spPr/>
    </dgm:pt>
    <dgm:pt modelId="{EE3672BB-531C-4BC7-AEDB-F22A056E1C0E}" type="pres">
      <dgm:prSet presAssocID="{DFAC278F-B484-468E-80C6-83D47B2F377D}" presName="axisShape" presStyleLbl="bgShp" presStyleIdx="0" presStyleCnt="1"/>
      <dgm:spPr/>
    </dgm:pt>
    <dgm:pt modelId="{6D7200A7-6B6C-4CB0-8F8F-031203792FB8}" type="pres">
      <dgm:prSet presAssocID="{DFAC278F-B484-468E-80C6-83D47B2F377D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0DBA3291-A356-474E-AE3E-1851538FB122}" type="pres">
      <dgm:prSet presAssocID="{DFAC278F-B484-468E-80C6-83D47B2F377D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ECF4038-4AA3-4A30-BA61-BCF58DE02D27}" type="pres">
      <dgm:prSet presAssocID="{DFAC278F-B484-468E-80C6-83D47B2F377D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8CF8601-EF99-4839-A11F-8091E9041AEE}" type="pres">
      <dgm:prSet presAssocID="{DFAC278F-B484-468E-80C6-83D47B2F377D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7F9BE08-55BD-47D4-B345-6A7B2E22FC68}" srcId="{DFAC278F-B484-468E-80C6-83D47B2F377D}" destId="{AB9CE42D-E26A-4A96-84FC-08C9F3812F40}" srcOrd="2" destOrd="0" parTransId="{B6D45799-A28C-4FCE-B226-602B1E82FBB8}" sibTransId="{9BF1262E-092B-4194-B6F9-E8B1FF52430D}"/>
    <dgm:cxn modelId="{E3FD8609-EE54-44D3-B21D-E57A138E10EE}" srcId="{DFAC278F-B484-468E-80C6-83D47B2F377D}" destId="{49B86C15-507E-40A8-A821-9D39BF9C922B}" srcOrd="1" destOrd="0" parTransId="{C491F302-CDA1-49B0-B350-DB4DBF1713CF}" sibTransId="{7523D90C-1105-4482-A385-EDA6612ED0AB}"/>
    <dgm:cxn modelId="{59670212-177F-48A5-B2D3-C19B788D8070}" type="presOf" srcId="{7B0C996A-BCBC-476C-A82D-935366C373CC}" destId="{C8CF8601-EF99-4839-A11F-8091E9041AEE}" srcOrd="0" destOrd="0" presId="urn:microsoft.com/office/officeart/2005/8/layout/matrix2"/>
    <dgm:cxn modelId="{46C13617-39AF-4EDF-8905-6757AEFFD35E}" type="presOf" srcId="{52117917-5340-47BB-86CC-EAD21F61C843}" destId="{6D7200A7-6B6C-4CB0-8F8F-031203792FB8}" srcOrd="0" destOrd="0" presId="urn:microsoft.com/office/officeart/2005/8/layout/matrix2"/>
    <dgm:cxn modelId="{F0322D37-7417-43E7-B36E-AD113186F01C}" type="presOf" srcId="{49B86C15-507E-40A8-A821-9D39BF9C922B}" destId="{0DBA3291-A356-474E-AE3E-1851538FB122}" srcOrd="0" destOrd="0" presId="urn:microsoft.com/office/officeart/2005/8/layout/matrix2"/>
    <dgm:cxn modelId="{E8420F5C-3D35-42FD-B4AF-D7CA7825C333}" srcId="{DFAC278F-B484-468E-80C6-83D47B2F377D}" destId="{7B0C996A-BCBC-476C-A82D-935366C373CC}" srcOrd="3" destOrd="0" parTransId="{DAE6F9DA-CCCB-4745-A00B-AAB07F4D5E82}" sibTransId="{AB6482FA-C2D5-4D74-8358-24C4C0DA9757}"/>
    <dgm:cxn modelId="{5B10B573-AD1A-42B2-81EF-C1AE2D52304E}" type="presOf" srcId="{DFAC278F-B484-468E-80C6-83D47B2F377D}" destId="{70585176-FA1D-4F58-93A8-FD7F14DBF9D7}" srcOrd="0" destOrd="0" presId="urn:microsoft.com/office/officeart/2005/8/layout/matrix2"/>
    <dgm:cxn modelId="{41AD86D8-9592-4C0E-86E8-07488AEA93F9}" type="presOf" srcId="{AB9CE42D-E26A-4A96-84FC-08C9F3812F40}" destId="{DECF4038-4AA3-4A30-BA61-BCF58DE02D27}" srcOrd="0" destOrd="0" presId="urn:microsoft.com/office/officeart/2005/8/layout/matrix2"/>
    <dgm:cxn modelId="{E9D428F5-A49F-4F71-A58F-51F753D70C40}" srcId="{DFAC278F-B484-468E-80C6-83D47B2F377D}" destId="{52117917-5340-47BB-86CC-EAD21F61C843}" srcOrd="0" destOrd="0" parTransId="{C2195E97-5D3B-4DFE-8064-5C65B812A922}" sibTransId="{2438FD38-BD64-421A-AEA9-CDCC456DFFE1}"/>
    <dgm:cxn modelId="{15BB2945-ED80-4BB9-BFAD-6DF209DFC0A3}" type="presParOf" srcId="{70585176-FA1D-4F58-93A8-FD7F14DBF9D7}" destId="{EE3672BB-531C-4BC7-AEDB-F22A056E1C0E}" srcOrd="0" destOrd="0" presId="urn:microsoft.com/office/officeart/2005/8/layout/matrix2"/>
    <dgm:cxn modelId="{D9DF7490-E653-47F7-A047-1188C5CD0463}" type="presParOf" srcId="{70585176-FA1D-4F58-93A8-FD7F14DBF9D7}" destId="{6D7200A7-6B6C-4CB0-8F8F-031203792FB8}" srcOrd="1" destOrd="0" presId="urn:microsoft.com/office/officeart/2005/8/layout/matrix2"/>
    <dgm:cxn modelId="{21E7CC7D-F62A-4F0B-B771-90D1244E8F8A}" type="presParOf" srcId="{70585176-FA1D-4F58-93A8-FD7F14DBF9D7}" destId="{0DBA3291-A356-474E-AE3E-1851538FB122}" srcOrd="2" destOrd="0" presId="urn:microsoft.com/office/officeart/2005/8/layout/matrix2"/>
    <dgm:cxn modelId="{BF2C7196-9EB4-46A5-9BDF-05B0548F884B}" type="presParOf" srcId="{70585176-FA1D-4F58-93A8-FD7F14DBF9D7}" destId="{DECF4038-4AA3-4A30-BA61-BCF58DE02D27}" srcOrd="3" destOrd="0" presId="urn:microsoft.com/office/officeart/2005/8/layout/matrix2"/>
    <dgm:cxn modelId="{1625164E-722C-427A-9AFC-5061FDFA7051}" type="presParOf" srcId="{70585176-FA1D-4F58-93A8-FD7F14DBF9D7}" destId="{C8CF8601-EF99-4839-A11F-8091E9041AEE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FAA62-12C9-4392-BF6F-DE75D59B29D5}">
      <dsp:nvSpPr>
        <dsp:cNvPr id="0" name=""/>
        <dsp:cNvSpPr/>
      </dsp:nvSpPr>
      <dsp:spPr>
        <a:xfrm>
          <a:off x="684" y="713298"/>
          <a:ext cx="2670502" cy="16023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SPEND: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• Incorrect payment rate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• Total discounts captured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→ Opportunities: Duplicate Invoices, Lost Cash Discounts</a:t>
          </a:r>
          <a:endParaRPr lang="en-IN" sz="1100" kern="1200" dirty="0"/>
        </a:p>
      </dsp:txBody>
      <dsp:txXfrm>
        <a:off x="684" y="713298"/>
        <a:ext cx="2670502" cy="1602301"/>
      </dsp:txXfrm>
    </dsp:sp>
    <dsp:sp modelId="{8CB9837D-BDF2-47BF-83DF-8BAFB41482DA}">
      <dsp:nvSpPr>
        <dsp:cNvPr id="0" name=""/>
        <dsp:cNvSpPr/>
      </dsp:nvSpPr>
      <dsp:spPr>
        <a:xfrm>
          <a:off x="2938237" y="713298"/>
          <a:ext cx="2670502" cy="16023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PRODUCTIVITY: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• Touchless invoice rate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• Invoice processing time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• On-time payment rate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→ Opportunities: Payment Blocks, Manual Rework</a:t>
          </a:r>
          <a:endParaRPr lang="en-IN" sz="1100" kern="1200" dirty="0"/>
        </a:p>
      </dsp:txBody>
      <dsp:txXfrm>
        <a:off x="2938237" y="713298"/>
        <a:ext cx="2670502" cy="1602301"/>
      </dsp:txXfrm>
    </dsp:sp>
    <dsp:sp modelId="{D4CA7755-0651-4F7C-8146-A2A05258F134}">
      <dsp:nvSpPr>
        <dsp:cNvPr id="0" name=""/>
        <dsp:cNvSpPr/>
      </dsp:nvSpPr>
      <dsp:spPr>
        <a:xfrm>
          <a:off x="1469460" y="2582649"/>
          <a:ext cx="2670502" cy="160230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WORKING CAPITAL: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0" kern="1200" dirty="0"/>
            <a:t>• Days Payable Outstanding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→ Opportunities: Payment Term Mismatches, Early Payments</a:t>
          </a:r>
          <a:endParaRPr lang="en-IN" sz="1100" kern="1200" dirty="0"/>
        </a:p>
      </dsp:txBody>
      <dsp:txXfrm>
        <a:off x="1469460" y="2582649"/>
        <a:ext cx="2670502" cy="16023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3025B-E207-4475-BC41-7AC3C5B333B7}">
      <dsp:nvSpPr>
        <dsp:cNvPr id="0" name=""/>
        <dsp:cNvSpPr/>
      </dsp:nvSpPr>
      <dsp:spPr>
        <a:xfrm>
          <a:off x="0" y="248782"/>
          <a:ext cx="955856" cy="68104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Create PR</a:t>
          </a:r>
        </a:p>
      </dsp:txBody>
      <dsp:txXfrm>
        <a:off x="19947" y="268729"/>
        <a:ext cx="915962" cy="641153"/>
      </dsp:txXfrm>
    </dsp:sp>
    <dsp:sp modelId="{C65E7ACB-00CF-44A7-B980-279138F06B1D}">
      <dsp:nvSpPr>
        <dsp:cNvPr id="0" name=""/>
        <dsp:cNvSpPr/>
      </dsp:nvSpPr>
      <dsp:spPr>
        <a:xfrm>
          <a:off x="1051441" y="470779"/>
          <a:ext cx="202641" cy="23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1051441" y="518189"/>
        <a:ext cx="141849" cy="142232"/>
      </dsp:txXfrm>
    </dsp:sp>
    <dsp:sp modelId="{5BAF583D-1A84-4EE8-88DB-41C02D31CA11}">
      <dsp:nvSpPr>
        <dsp:cNvPr id="0" name=""/>
        <dsp:cNvSpPr/>
      </dsp:nvSpPr>
      <dsp:spPr>
        <a:xfrm>
          <a:off x="1338198" y="248782"/>
          <a:ext cx="955856" cy="681047"/>
        </a:xfrm>
        <a:prstGeom prst="roundRect">
          <a:avLst>
            <a:gd name="adj" fmla="val 10000"/>
          </a:avLst>
        </a:prstGeom>
        <a:solidFill>
          <a:schemeClr val="accent2">
            <a:hueOff val="-1157649"/>
            <a:satOff val="-290"/>
            <a:lumOff val="45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Create PO</a:t>
          </a:r>
        </a:p>
      </dsp:txBody>
      <dsp:txXfrm>
        <a:off x="1358145" y="268729"/>
        <a:ext cx="915962" cy="641153"/>
      </dsp:txXfrm>
    </dsp:sp>
    <dsp:sp modelId="{F5490CE6-3F3F-449D-AE08-015C2920CAAB}">
      <dsp:nvSpPr>
        <dsp:cNvPr id="0" name=""/>
        <dsp:cNvSpPr/>
      </dsp:nvSpPr>
      <dsp:spPr>
        <a:xfrm>
          <a:off x="2389640" y="470779"/>
          <a:ext cx="202641" cy="23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1447061"/>
            <a:satOff val="-363"/>
            <a:lumOff val="573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2389640" y="518189"/>
        <a:ext cx="141849" cy="142232"/>
      </dsp:txXfrm>
    </dsp:sp>
    <dsp:sp modelId="{E897DB30-383B-4439-907E-BBA18F085A2F}">
      <dsp:nvSpPr>
        <dsp:cNvPr id="0" name=""/>
        <dsp:cNvSpPr/>
      </dsp:nvSpPr>
      <dsp:spPr>
        <a:xfrm>
          <a:off x="2676397" y="248782"/>
          <a:ext cx="955856" cy="681047"/>
        </a:xfrm>
        <a:prstGeom prst="roundRect">
          <a:avLst>
            <a:gd name="adj" fmla="val 10000"/>
          </a:avLst>
        </a:prstGeom>
        <a:solidFill>
          <a:schemeClr val="accent2">
            <a:hueOff val="-2315298"/>
            <a:satOff val="-580"/>
            <a:lumOff val="91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Send PO</a:t>
          </a:r>
        </a:p>
      </dsp:txBody>
      <dsp:txXfrm>
        <a:off x="2696344" y="268729"/>
        <a:ext cx="915962" cy="641153"/>
      </dsp:txXfrm>
    </dsp:sp>
    <dsp:sp modelId="{1D6BBEAB-9EB9-42E9-AF8E-61E39E8543F4}">
      <dsp:nvSpPr>
        <dsp:cNvPr id="0" name=""/>
        <dsp:cNvSpPr/>
      </dsp:nvSpPr>
      <dsp:spPr>
        <a:xfrm>
          <a:off x="3727839" y="470779"/>
          <a:ext cx="202641" cy="23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2894123"/>
            <a:satOff val="-725"/>
            <a:lumOff val="1147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3727839" y="518189"/>
        <a:ext cx="141849" cy="142232"/>
      </dsp:txXfrm>
    </dsp:sp>
    <dsp:sp modelId="{C7E907EB-4CA5-4E66-A226-F5098F3FBAD7}">
      <dsp:nvSpPr>
        <dsp:cNvPr id="0" name=""/>
        <dsp:cNvSpPr/>
      </dsp:nvSpPr>
      <dsp:spPr>
        <a:xfrm>
          <a:off x="4014596" y="248782"/>
          <a:ext cx="955856" cy="681047"/>
        </a:xfrm>
        <a:prstGeom prst="roundRect">
          <a:avLst>
            <a:gd name="adj" fmla="val 10000"/>
          </a:avLst>
        </a:prstGeom>
        <a:solidFill>
          <a:schemeClr val="accent2">
            <a:hueOff val="-3472948"/>
            <a:satOff val="-870"/>
            <a:lumOff val="13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Goods receipt </a:t>
          </a:r>
        </a:p>
      </dsp:txBody>
      <dsp:txXfrm>
        <a:off x="4034543" y="268729"/>
        <a:ext cx="915962" cy="641153"/>
      </dsp:txXfrm>
    </dsp:sp>
    <dsp:sp modelId="{A6FBE79C-63DE-4195-BC0F-911D9F3792D0}">
      <dsp:nvSpPr>
        <dsp:cNvPr id="0" name=""/>
        <dsp:cNvSpPr/>
      </dsp:nvSpPr>
      <dsp:spPr>
        <a:xfrm>
          <a:off x="5066038" y="470779"/>
          <a:ext cx="202641" cy="23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4341184"/>
            <a:satOff val="-1088"/>
            <a:lumOff val="172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5066038" y="518189"/>
        <a:ext cx="141849" cy="142232"/>
      </dsp:txXfrm>
    </dsp:sp>
    <dsp:sp modelId="{48E4077A-EC73-44A0-86E3-13B6E6EB1672}">
      <dsp:nvSpPr>
        <dsp:cNvPr id="0" name=""/>
        <dsp:cNvSpPr/>
      </dsp:nvSpPr>
      <dsp:spPr>
        <a:xfrm>
          <a:off x="5352795" y="248782"/>
          <a:ext cx="955856" cy="681047"/>
        </a:xfrm>
        <a:prstGeom prst="roundRect">
          <a:avLst>
            <a:gd name="adj" fmla="val 10000"/>
          </a:avLst>
        </a:prstGeom>
        <a:solidFill>
          <a:schemeClr val="accent2">
            <a:hueOff val="-4630597"/>
            <a:satOff val="-1160"/>
            <a:lumOff val="18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Invoice receipt</a:t>
          </a:r>
        </a:p>
      </dsp:txBody>
      <dsp:txXfrm>
        <a:off x="5372742" y="268729"/>
        <a:ext cx="915962" cy="641153"/>
      </dsp:txXfrm>
    </dsp:sp>
    <dsp:sp modelId="{97FB32CD-6470-4C0B-B1B0-F9122DE53006}">
      <dsp:nvSpPr>
        <dsp:cNvPr id="0" name=""/>
        <dsp:cNvSpPr/>
      </dsp:nvSpPr>
      <dsp:spPr>
        <a:xfrm>
          <a:off x="6404236" y="470779"/>
          <a:ext cx="202641" cy="2370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5788246"/>
            <a:satOff val="-1450"/>
            <a:lumOff val="2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500" kern="1200" dirty="0"/>
        </a:p>
      </dsp:txBody>
      <dsp:txXfrm>
        <a:off x="6404236" y="518189"/>
        <a:ext cx="141849" cy="142232"/>
      </dsp:txXfrm>
    </dsp:sp>
    <dsp:sp modelId="{27864262-93CF-4A5E-A7B9-FC320D89E0BE}">
      <dsp:nvSpPr>
        <dsp:cNvPr id="0" name=""/>
        <dsp:cNvSpPr/>
      </dsp:nvSpPr>
      <dsp:spPr>
        <a:xfrm>
          <a:off x="6690993" y="248782"/>
          <a:ext cx="955856" cy="681047"/>
        </a:xfrm>
        <a:prstGeom prst="roundRect">
          <a:avLst>
            <a:gd name="adj" fmla="val 10000"/>
          </a:avLst>
        </a:prstGeom>
        <a:solidFill>
          <a:schemeClr val="accent2">
            <a:hueOff val="-5788246"/>
            <a:satOff val="-1450"/>
            <a:lumOff val="2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Clear invoice</a:t>
          </a:r>
        </a:p>
      </dsp:txBody>
      <dsp:txXfrm>
        <a:off x="6710940" y="268729"/>
        <a:ext cx="915962" cy="6411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672BB-531C-4BC7-AEDB-F22A056E1C0E}">
      <dsp:nvSpPr>
        <dsp:cNvPr id="0" name=""/>
        <dsp:cNvSpPr/>
      </dsp:nvSpPr>
      <dsp:spPr>
        <a:xfrm>
          <a:off x="917972" y="0"/>
          <a:ext cx="4714104" cy="4714104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D7200A7-6B6C-4CB0-8F8F-031203792FB8}">
      <dsp:nvSpPr>
        <dsp:cNvPr id="0" name=""/>
        <dsp:cNvSpPr/>
      </dsp:nvSpPr>
      <dsp:spPr>
        <a:xfrm>
          <a:off x="1224389" y="306416"/>
          <a:ext cx="1885641" cy="188564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Priority 3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Big bets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High value + fast </a:t>
          </a:r>
        </a:p>
      </dsp:txBody>
      <dsp:txXfrm>
        <a:off x="1316438" y="398465"/>
        <a:ext cx="1701543" cy="1701543"/>
      </dsp:txXfrm>
    </dsp:sp>
    <dsp:sp modelId="{0DBA3291-A356-474E-AE3E-1851538FB122}">
      <dsp:nvSpPr>
        <dsp:cNvPr id="0" name=""/>
        <dsp:cNvSpPr/>
      </dsp:nvSpPr>
      <dsp:spPr>
        <a:xfrm>
          <a:off x="3440018" y="306416"/>
          <a:ext cx="1885641" cy="188564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Priority 1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Opportunities –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1] payment and PO blocks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2] price deviation rework</a:t>
          </a:r>
        </a:p>
      </dsp:txBody>
      <dsp:txXfrm>
        <a:off x="3532067" y="398465"/>
        <a:ext cx="1701543" cy="1701543"/>
      </dsp:txXfrm>
    </dsp:sp>
    <dsp:sp modelId="{DECF4038-4AA3-4A30-BA61-BCF58DE02D27}">
      <dsp:nvSpPr>
        <dsp:cNvPr id="0" name=""/>
        <dsp:cNvSpPr/>
      </dsp:nvSpPr>
      <dsp:spPr>
        <a:xfrm>
          <a:off x="1224389" y="2522045"/>
          <a:ext cx="1885641" cy="188564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Priority 4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Long term projects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Medium value + slow. Consider in future</a:t>
          </a:r>
        </a:p>
      </dsp:txBody>
      <dsp:txXfrm>
        <a:off x="1316438" y="2614094"/>
        <a:ext cx="1701543" cy="1701543"/>
      </dsp:txXfrm>
    </dsp:sp>
    <dsp:sp modelId="{C8CF8601-EF99-4839-A11F-8091E9041AEE}">
      <dsp:nvSpPr>
        <dsp:cNvPr id="0" name=""/>
        <dsp:cNvSpPr/>
      </dsp:nvSpPr>
      <dsp:spPr>
        <a:xfrm>
          <a:off x="3440018" y="2522045"/>
          <a:ext cx="1885641" cy="188564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Priority 2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/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/>
            <a:t>Medium value + fast quick wins with moderate impact</a:t>
          </a:r>
        </a:p>
      </dsp:txBody>
      <dsp:txXfrm>
        <a:off x="3532067" y="2614094"/>
        <a:ext cx="1701543" cy="1701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0DD84-F9B6-4751-8446-28DD872D89E1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1EDAA-DEA7-4AFA-9ABA-8DAA7BE5527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27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deck presents a structured business case for two Accounts Payable improvement opportunities identified through process mining analysis of a 812-case, 4,927-event Purchase-to-Pay event log. The analysis applies Celonis's 6-Step Value Framing Methodology.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1948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Celonis AP Value Tree maps every improvement opportunity to a business objective — Spend, Productivity, or Working Capital — each of which flows up to P&amp;L and ultimately Free Cash Flow. Our two focus opportunities (Payment Blocks and Price Deviations) sit under the Productivity pillar, impacting invoice processing time and on-time payment rate.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0910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Price is the dominant deviation — 110 events representing 35.5% of all 310 deviation events. This single activity type alone indicates systematic pricing misalignment between POs and vendor invoices, likely concentrated in specific vendor relationships.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0962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opportunity directly maps to the Celonis Parked &amp; Blocked Invoices Execution App. The 15-minute effort estimate per block removal is sourced from Celonis's published Value Framing Guide benchmark. The enterprise-scale figure is extrapolated from the ratio of 58 blocking events in 812 cases applied to the 279k case dataset visible in our Celonis platform screenshots.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4936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D0DA4-B5D0-CB3A-9BD3-90186C384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29A5D-6D59-B80E-F145-B0617B510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6342D-9F74-9388-0924-6B2FC8D22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Price is the most actionable opportunity because its root cause is attribute-based — concentrated in just two vendors. This means a targeted vendor master data correction can eliminate 50% of the problem without any technology investment, making it an immediate quick win before any automation is deployed.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354F2-4E6B-3DFB-B102-D8B3E1872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5370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52436157f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 dirty="0"/>
          </a:p>
        </p:txBody>
      </p:sp>
      <p:sp>
        <p:nvSpPr>
          <p:cNvPr id="679" name="Google Shape;679;g252436157f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Business Case Overview format is the standard Celonis executive sign-off document. The Committed column would be populated after a Value Validation Workshop with the AP team lead and finance sponsor. The Realized column is populated after implementation, tracked against the KPI formulas defined in the methodology.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vendor concentration finding is highly actionable. Vendor 0000001001 alone accounts for 31% of all Change Price events — a single vendor alignment meeting to synchronize price lists could eliminate one-third of this entire deviation category. This is a perfect example of an attribute-based root cause with a low-effort, high-impact fix.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8555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opportunities land in the Gold Nuggets quadrant — high value impact combined with fast implementation timelines. This is the ideal starting position: we're not recommending risky long-term projects, we're recommending targeted, data-backed fixes with measurable outcomes. Phase 1 requires no technology investment at all — just a vendor meeting.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E1EDAA-DEA7-4AFA-9ABA-8DAA7BE5527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3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 with customer logo (white)">
  <p:cSld name="Standard slide with customer logo (white)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9927133" y="392281"/>
            <a:ext cx="944000" cy="5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latin typeface="Poppins"/>
                <a:ea typeface="Poppins"/>
                <a:cs typeface="Poppins"/>
                <a:sym typeface="Poppins"/>
              </a:rPr>
              <a:t>LOGO</a:t>
            </a:r>
            <a:endParaRPr sz="1333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5" name="Google Shape;15;p2"/>
          <p:cNvCxnSpPr/>
          <p:nvPr/>
        </p:nvCxnSpPr>
        <p:spPr>
          <a:xfrm>
            <a:off x="11054441" y="401081"/>
            <a:ext cx="0" cy="502000"/>
          </a:xfrm>
          <a:prstGeom prst="straightConnector1">
            <a:avLst/>
          </a:prstGeom>
          <a:noFill/>
          <a:ln w="9525" cap="flat" cmpd="sng">
            <a:solidFill>
              <a:srgbClr val="00014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408000" y="1328667"/>
            <a:ext cx="11376000" cy="498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5pPr>
            <a:lvl6pPr marL="3657509" lvl="5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7401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ith customer logo (white)">
  <p:cSld name="Only title with customer logo (white)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927133" y="392281"/>
            <a:ext cx="944000" cy="5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latin typeface="Poppins"/>
                <a:ea typeface="Poppins"/>
                <a:cs typeface="Poppins"/>
                <a:sym typeface="Poppins"/>
              </a:rPr>
              <a:t>LOGO</a:t>
            </a:r>
            <a:endParaRPr sz="1333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11054441" y="401081"/>
            <a:ext cx="0" cy="502000"/>
          </a:xfrm>
          <a:prstGeom prst="straightConnector1">
            <a:avLst/>
          </a:prstGeom>
          <a:noFill/>
          <a:ln w="9525" cap="flat" cmpd="sng">
            <a:solidFill>
              <a:srgbClr val="000143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04829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point agenda with customer logo (white)">
  <p:cSld name="4 point agenda with customer logo (white)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30533" y="4725839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430533" y="3619425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3"/>
          </p:nvPr>
        </p:nvSpPr>
        <p:spPr>
          <a:xfrm>
            <a:off x="430533" y="2513013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4"/>
          </p:nvPr>
        </p:nvSpPr>
        <p:spPr>
          <a:xfrm>
            <a:off x="431733" y="1406600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5"/>
          </p:nvPr>
        </p:nvSpPr>
        <p:spPr>
          <a:xfrm>
            <a:off x="1337133" y="1406600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" name="Google Shape;3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927133" y="392281"/>
            <a:ext cx="944000" cy="5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latin typeface="Poppins"/>
                <a:ea typeface="Poppins"/>
                <a:cs typeface="Poppins"/>
                <a:sym typeface="Poppins"/>
              </a:rPr>
              <a:t>LOGO</a:t>
            </a:r>
            <a:endParaRPr sz="1333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11054441" y="401081"/>
            <a:ext cx="0" cy="502000"/>
          </a:xfrm>
          <a:prstGeom prst="straightConnector1">
            <a:avLst/>
          </a:prstGeom>
          <a:noFill/>
          <a:ln w="9525" cap="flat" cmpd="sng">
            <a:solidFill>
              <a:srgbClr val="0001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34;p4"/>
          <p:cNvCxnSpPr/>
          <p:nvPr/>
        </p:nvCxnSpPr>
        <p:spPr>
          <a:xfrm>
            <a:off x="430447" y="2470999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35;p4"/>
          <p:cNvCxnSpPr/>
          <p:nvPr/>
        </p:nvCxnSpPr>
        <p:spPr>
          <a:xfrm>
            <a:off x="430447" y="3577424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4"/>
          <p:cNvCxnSpPr/>
          <p:nvPr/>
        </p:nvCxnSpPr>
        <p:spPr>
          <a:xfrm>
            <a:off x="430447" y="4683849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Google Shape;37;p4"/>
          <p:cNvSpPr txBox="1">
            <a:spLocks noGrp="1"/>
          </p:cNvSpPr>
          <p:nvPr>
            <p:ph type="body" idx="6"/>
          </p:nvPr>
        </p:nvSpPr>
        <p:spPr>
          <a:xfrm>
            <a:off x="1337133" y="2513005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7"/>
          </p:nvPr>
        </p:nvSpPr>
        <p:spPr>
          <a:xfrm>
            <a:off x="1337133" y="3619411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body" idx="8"/>
          </p:nvPr>
        </p:nvSpPr>
        <p:spPr>
          <a:xfrm>
            <a:off x="1337133" y="4725817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2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point agenda with customer logo (white)">
  <p:cSld name="5 point agenda with customer logo (white)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body" idx="1"/>
          </p:nvPr>
        </p:nvSpPr>
        <p:spPr>
          <a:xfrm>
            <a:off x="1337120" y="1406600"/>
            <a:ext cx="10110800" cy="80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927133" y="392281"/>
            <a:ext cx="944000" cy="5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latin typeface="Poppins"/>
                <a:ea typeface="Poppins"/>
                <a:cs typeface="Poppins"/>
                <a:sym typeface="Poppins"/>
              </a:rPr>
              <a:t>LOGO</a:t>
            </a:r>
            <a:endParaRPr sz="1333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6" name="Google Shape;46;p5"/>
          <p:cNvCxnSpPr/>
          <p:nvPr/>
        </p:nvCxnSpPr>
        <p:spPr>
          <a:xfrm>
            <a:off x="11054441" y="401081"/>
            <a:ext cx="0" cy="502000"/>
          </a:xfrm>
          <a:prstGeom prst="straightConnector1">
            <a:avLst/>
          </a:prstGeom>
          <a:noFill/>
          <a:ln w="9525" cap="flat" cmpd="sng">
            <a:solidFill>
              <a:srgbClr val="0001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5"/>
          <p:cNvCxnSpPr/>
          <p:nvPr/>
        </p:nvCxnSpPr>
        <p:spPr>
          <a:xfrm>
            <a:off x="430433" y="2242416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48;p5"/>
          <p:cNvCxnSpPr/>
          <p:nvPr/>
        </p:nvCxnSpPr>
        <p:spPr>
          <a:xfrm>
            <a:off x="430433" y="3126428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Google Shape;49;p5"/>
          <p:cNvCxnSpPr/>
          <p:nvPr/>
        </p:nvCxnSpPr>
        <p:spPr>
          <a:xfrm>
            <a:off x="430433" y="4010439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5"/>
          <p:cNvSpPr txBox="1">
            <a:spLocks noGrp="1"/>
          </p:cNvSpPr>
          <p:nvPr>
            <p:ph type="body" idx="2"/>
          </p:nvPr>
        </p:nvSpPr>
        <p:spPr>
          <a:xfrm>
            <a:off x="1337120" y="2286801"/>
            <a:ext cx="10110800" cy="80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3"/>
          </p:nvPr>
        </p:nvSpPr>
        <p:spPr>
          <a:xfrm>
            <a:off x="1337120" y="3167003"/>
            <a:ext cx="10110800" cy="80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4"/>
          </p:nvPr>
        </p:nvSpPr>
        <p:spPr>
          <a:xfrm>
            <a:off x="1337120" y="4047204"/>
            <a:ext cx="10110800" cy="80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53" name="Google Shape;53;p5"/>
          <p:cNvCxnSpPr/>
          <p:nvPr/>
        </p:nvCxnSpPr>
        <p:spPr>
          <a:xfrm>
            <a:off x="430433" y="4894451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Google Shape;54;p5"/>
          <p:cNvSpPr txBox="1">
            <a:spLocks noGrp="1"/>
          </p:cNvSpPr>
          <p:nvPr>
            <p:ph type="body" idx="5"/>
          </p:nvPr>
        </p:nvSpPr>
        <p:spPr>
          <a:xfrm>
            <a:off x="1337120" y="4927405"/>
            <a:ext cx="10110800" cy="80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6"/>
          </p:nvPr>
        </p:nvSpPr>
        <p:spPr>
          <a:xfrm>
            <a:off x="430533" y="4925819"/>
            <a:ext cx="941600" cy="80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body" idx="7"/>
          </p:nvPr>
        </p:nvSpPr>
        <p:spPr>
          <a:xfrm>
            <a:off x="430533" y="3166209"/>
            <a:ext cx="941600" cy="80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body" idx="8"/>
          </p:nvPr>
        </p:nvSpPr>
        <p:spPr>
          <a:xfrm>
            <a:off x="430533" y="2286405"/>
            <a:ext cx="941600" cy="80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body" idx="9"/>
          </p:nvPr>
        </p:nvSpPr>
        <p:spPr>
          <a:xfrm>
            <a:off x="431733" y="1406600"/>
            <a:ext cx="941600" cy="80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body" idx="13"/>
          </p:nvPr>
        </p:nvSpPr>
        <p:spPr>
          <a:xfrm>
            <a:off x="431733" y="4046015"/>
            <a:ext cx="941600" cy="80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6799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oint agenda with customer logo (white)">
  <p:cSld name="3 point agenda with customer logo (white)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1337133" y="1406600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6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3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9927133" y="392281"/>
            <a:ext cx="944000" cy="5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latin typeface="Poppins"/>
                <a:ea typeface="Poppins"/>
                <a:cs typeface="Poppins"/>
                <a:sym typeface="Poppins"/>
              </a:rPr>
              <a:t>LOGO</a:t>
            </a:r>
            <a:endParaRPr sz="1333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6" name="Google Shape;66;p6"/>
          <p:cNvCxnSpPr/>
          <p:nvPr/>
        </p:nvCxnSpPr>
        <p:spPr>
          <a:xfrm>
            <a:off x="11054441" y="401081"/>
            <a:ext cx="0" cy="502000"/>
          </a:xfrm>
          <a:prstGeom prst="straightConnector1">
            <a:avLst/>
          </a:prstGeom>
          <a:noFill/>
          <a:ln w="9525" cap="flat" cmpd="sng">
            <a:solidFill>
              <a:srgbClr val="00014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6"/>
          <p:cNvCxnSpPr/>
          <p:nvPr/>
        </p:nvCxnSpPr>
        <p:spPr>
          <a:xfrm>
            <a:off x="430447" y="2470999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68;p6"/>
          <p:cNvCxnSpPr/>
          <p:nvPr/>
        </p:nvCxnSpPr>
        <p:spPr>
          <a:xfrm>
            <a:off x="430447" y="3577424"/>
            <a:ext cx="11017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6"/>
          <p:cNvSpPr txBox="1">
            <a:spLocks noGrp="1"/>
          </p:cNvSpPr>
          <p:nvPr>
            <p:ph type="body" idx="2"/>
          </p:nvPr>
        </p:nvSpPr>
        <p:spPr>
          <a:xfrm>
            <a:off x="1337133" y="2513005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body" idx="3"/>
          </p:nvPr>
        </p:nvSpPr>
        <p:spPr>
          <a:xfrm>
            <a:off x="1337133" y="3619411"/>
            <a:ext cx="101108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1pPr>
            <a:lvl2pPr marL="1219170" lvl="1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4"/>
          </p:nvPr>
        </p:nvSpPr>
        <p:spPr>
          <a:xfrm>
            <a:off x="430533" y="3619425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5"/>
          </p:nvPr>
        </p:nvSpPr>
        <p:spPr>
          <a:xfrm>
            <a:off x="430533" y="2513013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6"/>
          </p:nvPr>
        </p:nvSpPr>
        <p:spPr>
          <a:xfrm>
            <a:off x="431733" y="1406600"/>
            <a:ext cx="941600" cy="102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1pPr>
            <a:lvl2pPr marL="1219170" lvl="1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2pPr>
            <a:lvl3pPr marL="1828754" lvl="2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3pPr>
            <a:lvl4pPr marL="2438339" lvl="3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4pPr>
            <a:lvl5pPr marL="3047924" lvl="4" indent="-55878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Char char="•"/>
              <a:defRPr sz="4000" b="1"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5215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(white)">
  <p:cSld name="Only title (white)"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"/>
          <p:cNvSpPr txBox="1">
            <a:spLocks noGrp="1"/>
          </p:cNvSpPr>
          <p:nvPr>
            <p:ph type="sldNum" idx="12"/>
          </p:nvPr>
        </p:nvSpPr>
        <p:spPr>
          <a:xfrm>
            <a:off x="9040813" y="6489488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50" y="353672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000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 (white)">
  <p:cSld name="Standard slide (white)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9040813" y="6489488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0" name="Google Shape;80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50" y="353672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408000" y="1328667"/>
            <a:ext cx="11376000" cy="498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2pPr>
            <a:lvl3pPr marL="1828754" lvl="2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3pPr>
            <a:lvl4pPr marL="2438339" lvl="3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4pPr>
            <a:lvl5pPr marL="3047924" lvl="4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5pPr>
            <a:lvl6pPr marL="3657509" lvl="5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7841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5">
  <p:cSld name="Title page 5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>
            <a:spLocks noGrp="1"/>
          </p:cNvSpPr>
          <p:nvPr>
            <p:ph type="title"/>
          </p:nvPr>
        </p:nvSpPr>
        <p:spPr>
          <a:xfrm>
            <a:off x="407989" y="2972906"/>
            <a:ext cx="568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4000" b="1" i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9"/>
          <p:cNvSpPr txBox="1">
            <a:spLocks noGrp="1"/>
          </p:cNvSpPr>
          <p:nvPr>
            <p:ph type="body" idx="1"/>
          </p:nvPr>
        </p:nvSpPr>
        <p:spPr>
          <a:xfrm>
            <a:off x="407989" y="5351867"/>
            <a:ext cx="5688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9"/>
          <p:cNvSpPr txBox="1">
            <a:spLocks noGrp="1"/>
          </p:cNvSpPr>
          <p:nvPr>
            <p:ph type="body" idx="2"/>
          </p:nvPr>
        </p:nvSpPr>
        <p:spPr>
          <a:xfrm>
            <a:off x="407989" y="5669455"/>
            <a:ext cx="5688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3"/>
          </p:nvPr>
        </p:nvSpPr>
        <p:spPr>
          <a:xfrm>
            <a:off x="407988" y="3744723"/>
            <a:ext cx="5688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828754" lvl="2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2438339" lvl="3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marL="3047924" lvl="4" indent="-3809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88" name="Google Shape;88;p9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55889" y="368904"/>
            <a:ext cx="1843087" cy="7740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9"/>
          <p:cNvCxnSpPr/>
          <p:nvPr/>
        </p:nvCxnSpPr>
        <p:spPr>
          <a:xfrm>
            <a:off x="2200632" y="645559"/>
            <a:ext cx="220800" cy="22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9"/>
          <p:cNvCxnSpPr/>
          <p:nvPr/>
        </p:nvCxnSpPr>
        <p:spPr>
          <a:xfrm rot="-5406217">
            <a:off x="2200432" y="645252"/>
            <a:ext cx="221200" cy="221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646698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4">
  <p:cSld name="Title page 4">
    <p:bg>
      <p:bgPr>
        <a:solidFill>
          <a:schemeClr val="lt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>
            <a:spLocks noGrp="1"/>
          </p:cNvSpPr>
          <p:nvPr>
            <p:ph type="title"/>
          </p:nvPr>
        </p:nvSpPr>
        <p:spPr>
          <a:xfrm>
            <a:off x="408021" y="2972906"/>
            <a:ext cx="568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4000" b="1" i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1"/>
          </p:nvPr>
        </p:nvSpPr>
        <p:spPr>
          <a:xfrm>
            <a:off x="407989" y="5351867"/>
            <a:ext cx="5688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2"/>
          </p:nvPr>
        </p:nvSpPr>
        <p:spPr>
          <a:xfrm>
            <a:off x="407989" y="5669455"/>
            <a:ext cx="5688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0"/>
          <p:cNvSpPr txBox="1">
            <a:spLocks noGrp="1"/>
          </p:cNvSpPr>
          <p:nvPr>
            <p:ph type="body" idx="3"/>
          </p:nvPr>
        </p:nvSpPr>
        <p:spPr>
          <a:xfrm>
            <a:off x="408023" y="3744723"/>
            <a:ext cx="5688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20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828754" lvl="2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2438339" lvl="3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marL="3047924" lvl="4" indent="-3809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96" name="Google Shape;96;p1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7989" y="368904"/>
            <a:ext cx="1843087" cy="774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641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3">
  <p:cSld name="Title page 3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>
            <a:spLocks noGrp="1"/>
          </p:cNvSpPr>
          <p:nvPr>
            <p:ph type="title"/>
          </p:nvPr>
        </p:nvSpPr>
        <p:spPr>
          <a:xfrm>
            <a:off x="407989" y="2972906"/>
            <a:ext cx="568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4000" b="1" i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407988" y="5351867"/>
            <a:ext cx="56956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body" idx="2"/>
          </p:nvPr>
        </p:nvSpPr>
        <p:spPr>
          <a:xfrm>
            <a:off x="407988" y="5669455"/>
            <a:ext cx="56956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07991" y="3744723"/>
            <a:ext cx="5688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  <a:defRPr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2pPr>
            <a:lvl3pPr marL="1828754" lvl="2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marL="2438339" lvl="3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4pPr>
            <a:lvl5pPr marL="3047924" lvl="4" indent="-3809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pic>
        <p:nvPicPr>
          <p:cNvPr id="102" name="Google Shape;102;p1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7989" y="368904"/>
            <a:ext cx="1843087" cy="77409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>
            <a:spLocks noGrp="1"/>
          </p:cNvSpPr>
          <p:nvPr>
            <p:ph type="pic" idx="4"/>
          </p:nvPr>
        </p:nvSpPr>
        <p:spPr>
          <a:xfrm>
            <a:off x="6456363" y="0"/>
            <a:ext cx="57356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3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(black)">
  <p:cSld name="Chapter slide (black)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xfrm>
            <a:off x="407988" y="3059668"/>
            <a:ext cx="11376000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2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49564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(white)">
  <p:cSld name="Chapter slide (white)"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407988" y="3059668"/>
            <a:ext cx="11376000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889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(black)">
  <p:cSld name="Only title (black)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>
            <a:spLocks noGrp="1"/>
          </p:cNvSpPr>
          <p:nvPr>
            <p:ph type="title"/>
          </p:nvPr>
        </p:nvSpPr>
        <p:spPr>
          <a:xfrm>
            <a:off x="408000" y="370300"/>
            <a:ext cx="10594000" cy="4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Poppins"/>
              <a:buNone/>
              <a:defRPr sz="2667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4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67243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ith 1/3 highlight left">
  <p:cSld name="Only title with 1/3 highlight left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7" name="Google Shape;11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4295767" y="370299"/>
            <a:ext cx="67060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88814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917">
          <p15:clr>
            <a:srgbClr val="F26B43"/>
          </p15:clr>
        </p15:guide>
        <p15:guide id="2" pos="2029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ith 1/3 highlight right">
  <p:cSld name="Only title with 1/3 highlight right"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8128000" y="0"/>
            <a:ext cx="4064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22" name="Google Shape;12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>
            <a:spLocks noGrp="1"/>
          </p:cNvSpPr>
          <p:nvPr>
            <p:ph type="title"/>
          </p:nvPr>
        </p:nvSpPr>
        <p:spPr>
          <a:xfrm>
            <a:off x="408000" y="370299"/>
            <a:ext cx="74644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323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19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of topics (left black)">
  <p:cSld name="Comparison of topics (left black)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>
            <a:spLocks noGrp="1"/>
          </p:cNvSpPr>
          <p:nvPr>
            <p:ph type="body" idx="1"/>
          </p:nvPr>
        </p:nvSpPr>
        <p:spPr>
          <a:xfrm>
            <a:off x="6348400" y="370299"/>
            <a:ext cx="42816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>
                <a:solidFill>
                  <a:schemeClr val="dk1"/>
                </a:solidFill>
              </a:defRPr>
            </a:lvl1pPr>
            <a:lvl2pPr marL="121917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408000" y="370299"/>
            <a:ext cx="54356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0897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999">
          <p15:clr>
            <a:srgbClr val="F26B43"/>
          </p15:clr>
        </p15:guide>
        <p15:guide id="2" pos="2880">
          <p15:clr>
            <a:srgbClr val="F26B43"/>
          </p15:clr>
        </p15:guide>
        <p15:guide id="3" pos="2761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of topics (right black)">
  <p:cSld name="Comparison of topics (right black)">
    <p:bg>
      <p:bgPr>
        <a:solidFill>
          <a:schemeClr val="dk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1"/>
          </p:nvPr>
        </p:nvSpPr>
        <p:spPr>
          <a:xfrm>
            <a:off x="6348409" y="370299"/>
            <a:ext cx="42816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 b="1">
                <a:solidFill>
                  <a:schemeClr val="lt1"/>
                </a:solidFill>
              </a:defRPr>
            </a:lvl1pPr>
            <a:lvl2pPr marL="121917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408000" y="370299"/>
            <a:ext cx="5435600" cy="4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667"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3207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999">
          <p15:clr>
            <a:srgbClr val="F26B43"/>
          </p15:clr>
        </p15:guide>
        <p15:guide id="2" pos="2880">
          <p15:clr>
            <a:srgbClr val="F26B43"/>
          </p15:clr>
        </p15:guide>
        <p15:guide id="3" pos="2761">
          <p15:clr>
            <a:srgbClr val="F26B43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407989" y="2908051"/>
            <a:ext cx="5688000" cy="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407988" y="3832452"/>
            <a:ext cx="56880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121917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marL="1828754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marL="2438339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38" name="Google Shape;138;p19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7989" y="368904"/>
            <a:ext cx="1843087" cy="7740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2377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07988" y="3646715"/>
            <a:ext cx="11376000" cy="6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4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41" name="Google Shape;141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1543" y="2434615"/>
            <a:ext cx="928916" cy="9890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344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page 1">
  <p:cSld name="Title page 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title"/>
          </p:nvPr>
        </p:nvSpPr>
        <p:spPr>
          <a:xfrm>
            <a:off x="407989" y="2972811"/>
            <a:ext cx="56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000" b="1" i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body" idx="1"/>
          </p:nvPr>
        </p:nvSpPr>
        <p:spPr>
          <a:xfrm>
            <a:off x="407989" y="5351867"/>
            <a:ext cx="5688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2pPr>
            <a:lvl3pPr marL="1828754" lvl="2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3pPr>
            <a:lvl4pPr marL="2438339" lvl="3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4pPr>
            <a:lvl5pPr marL="3047924" lvl="4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5pPr>
            <a:lvl6pPr marL="3657509" lvl="5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4267093" lvl="6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4876678" lvl="7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5486263" lvl="8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body" idx="2"/>
          </p:nvPr>
        </p:nvSpPr>
        <p:spPr>
          <a:xfrm>
            <a:off x="407989" y="5669455"/>
            <a:ext cx="5688000" cy="2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2pPr>
            <a:lvl3pPr marL="1828754" lvl="2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3pPr>
            <a:lvl4pPr marL="2438339" lvl="3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4pPr>
            <a:lvl5pPr marL="3047924" lvl="4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/>
            </a:lvl5pPr>
            <a:lvl6pPr marL="3657509" lvl="5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4267093" lvl="6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4876678" lvl="7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5486263" lvl="8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3"/>
          </p:nvPr>
        </p:nvSpPr>
        <p:spPr>
          <a:xfrm>
            <a:off x="407989" y="3744724"/>
            <a:ext cx="5688000" cy="3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sz="2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marL="1828754" lvl="2" indent="-3809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3pPr>
            <a:lvl4pPr marL="2438339" lvl="3" indent="-372524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4pPr>
            <a:lvl5pPr marL="3047924" lvl="4" indent="-364058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700"/>
              <a:buChar char="•"/>
              <a:defRPr>
                <a:solidFill>
                  <a:schemeClr val="lt1"/>
                </a:solidFill>
              </a:defRPr>
            </a:lvl5pPr>
            <a:lvl6pPr marL="3657509" lvl="5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6pPr>
            <a:lvl7pPr marL="4267093" lvl="6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7pPr>
            <a:lvl8pPr marL="4876678" lvl="7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8pPr>
            <a:lvl9pPr marL="5486263" lvl="8" indent="-3979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9pPr>
          </a:lstStyle>
          <a:p>
            <a:endParaRPr/>
          </a:p>
        </p:txBody>
      </p:sp>
      <p:pic>
        <p:nvPicPr>
          <p:cNvPr id="147" name="Google Shape;147;p2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001" y="368300"/>
            <a:ext cx="1593567" cy="6693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735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160">
          <p15:clr>
            <a:srgbClr val="F26B43"/>
          </p15:clr>
        </p15:guide>
        <p15:guide id="2" pos="2287">
          <p15:clr>
            <a:srgbClr val="F26B43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626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2">
  <p:cSld name="Title page 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3" descr="bond_04_green"/>
          <p:cNvPicPr preferRelativeResize="0"/>
          <p:nvPr/>
        </p:nvPicPr>
        <p:blipFill rotWithShape="1">
          <a:blip r:embed="rId2">
            <a:alphaModFix/>
          </a:blip>
          <a:srcRect l="-5439" r="49072"/>
          <a:stretch/>
        </p:blipFill>
        <p:spPr>
          <a:xfrm>
            <a:off x="6006790" y="0"/>
            <a:ext cx="61852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xfrm>
            <a:off x="431963" y="1583820"/>
            <a:ext cx="5574800" cy="20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"/>
          </p:nvPr>
        </p:nvSpPr>
        <p:spPr>
          <a:xfrm>
            <a:off x="431963" y="5616560"/>
            <a:ext cx="558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/>
            </a:lvl1pPr>
            <a:lvl2pPr marL="121917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2pPr>
            <a:lvl3pPr marL="1828754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3pPr>
            <a:lvl4pPr marL="2438339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4pPr>
            <a:lvl5pPr marL="3047924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body" idx="2"/>
          </p:nvPr>
        </p:nvSpPr>
        <p:spPr>
          <a:xfrm>
            <a:off x="431963" y="5934148"/>
            <a:ext cx="558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SzPts val="1200"/>
              <a:buFont typeface="Poppins"/>
              <a:buNone/>
              <a:defRPr/>
            </a:lvl1pPr>
            <a:lvl2pPr marL="1219170" lvl="1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2pPr>
            <a:lvl3pPr marL="1828754" lvl="2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3pPr>
            <a:lvl4pPr marL="2438339" lvl="3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4pPr>
            <a:lvl5pPr marL="3047924" lvl="4" indent="-406390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ts val="1200"/>
              <a:buFont typeface="Poppins"/>
              <a:buChar char="•"/>
              <a:defRPr/>
            </a:lvl5pPr>
            <a:lvl6pPr marL="3657509" lvl="5" indent="-304792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body" idx="3"/>
          </p:nvPr>
        </p:nvSpPr>
        <p:spPr>
          <a:xfrm>
            <a:off x="431964" y="3865037"/>
            <a:ext cx="5574800" cy="1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None/>
              <a:defRPr sz="2000"/>
            </a:lvl1pPr>
            <a:lvl2pPr marL="1219170" lvl="1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•"/>
              <a:defRPr sz="2000"/>
            </a:lvl2pPr>
            <a:lvl3pPr marL="1828754" lvl="2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•"/>
              <a:defRPr sz="2000"/>
            </a:lvl3pPr>
            <a:lvl4pPr marL="2438339" lvl="3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•"/>
              <a:defRPr sz="2000"/>
            </a:lvl4pPr>
            <a:lvl5pPr marL="3047924" lvl="4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Poppins"/>
              <a:buChar char="•"/>
              <a:defRPr sz="2000"/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2000"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sz="2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55" name="Google Shape;155;p23" descr="Ein Bild, das Zeichnung enthält.&#10;&#10;Automatisch generierte Beschreibu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963" y="473160"/>
            <a:ext cx="1532119" cy="64349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16421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9168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 2 (white)">
  <p:cSld name="Title page 2 (white)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4"/>
          <p:cNvPicPr preferRelativeResize="0"/>
          <p:nvPr/>
        </p:nvPicPr>
        <p:blipFill rotWithShape="1">
          <a:blip r:embed="rId2">
            <a:alphaModFix/>
          </a:blip>
          <a:srcRect l="19455" r="9436"/>
          <a:stretch/>
        </p:blipFill>
        <p:spPr>
          <a:xfrm>
            <a:off x="0" y="0"/>
            <a:ext cx="12192000" cy="685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/>
          <p:nvPr/>
        </p:nvSpPr>
        <p:spPr>
          <a:xfrm rot="-5400000">
            <a:off x="2667000" y="-2667001"/>
            <a:ext cx="6858000" cy="12192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108000" tIns="72000" rIns="108000" bIns="72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431963" y="1583820"/>
            <a:ext cx="5574800" cy="20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431963" y="5616560"/>
            <a:ext cx="5582400" cy="2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>
                <a:solidFill>
                  <a:schemeClr val="dk1"/>
                </a:solidFill>
              </a:defRPr>
            </a:lvl1pPr>
            <a:lvl2pPr marL="121917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2pPr>
            <a:lvl3pPr marL="1828754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3pPr>
            <a:lvl4pPr marL="2438339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4pPr>
            <a:lvl5pPr marL="3047924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>
                <a:solidFill>
                  <a:schemeClr val="dk1"/>
                </a:solidFill>
              </a:defRPr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2" name="Google Shape;162;p24"/>
          <p:cNvSpPr txBox="1">
            <a:spLocks noGrp="1"/>
          </p:cNvSpPr>
          <p:nvPr>
            <p:ph type="body" idx="2"/>
          </p:nvPr>
        </p:nvSpPr>
        <p:spPr>
          <a:xfrm>
            <a:off x="431964" y="3865037"/>
            <a:ext cx="5574800" cy="13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609585" marR="0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</a:defRPr>
            </a:lvl1pPr>
            <a:lvl2pPr marL="1219170" lvl="1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2pPr>
            <a:lvl3pPr marL="1828754" lvl="2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3pPr>
            <a:lvl4pPr marL="2438339" lvl="3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4pPr>
            <a:lvl5pPr marL="3047924" lvl="4" indent="-4317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•"/>
              <a:defRPr sz="2000">
                <a:solidFill>
                  <a:schemeClr val="dk1"/>
                </a:solidFill>
              </a:defRPr>
            </a:lvl5pPr>
            <a:lvl6pPr marL="3657509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None/>
              <a:defRPr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pic>
        <p:nvPicPr>
          <p:cNvPr id="163" name="Google Shape;163;p24" descr="Ein Bild, das Zeichnung enthält.&#10;&#10;Automatisch generierte Beschreibu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963" y="473160"/>
            <a:ext cx="1532119" cy="6434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0758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 1">
  <p:cSld name="Only Title white 1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/>
          <p:nvPr/>
        </p:nvSpPr>
        <p:spPr>
          <a:xfrm>
            <a:off x="9927133" y="392281"/>
            <a:ext cx="944000" cy="5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3" b="1">
                <a:latin typeface="Poppins"/>
                <a:ea typeface="Poppins"/>
                <a:cs typeface="Poppins"/>
                <a:sym typeface="Poppins"/>
              </a:rPr>
              <a:t>LOGO</a:t>
            </a:r>
            <a:endParaRPr sz="1333" b="1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0" name="Google Shape;170;p25"/>
          <p:cNvCxnSpPr/>
          <p:nvPr/>
        </p:nvCxnSpPr>
        <p:spPr>
          <a:xfrm>
            <a:off x="11054441" y="401081"/>
            <a:ext cx="0" cy="502000"/>
          </a:xfrm>
          <a:prstGeom prst="straightConnector1">
            <a:avLst/>
          </a:prstGeom>
          <a:noFill/>
          <a:ln w="9525" cap="flat" cmpd="sng">
            <a:solidFill>
              <a:srgbClr val="000143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41825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7629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237749" y="353670"/>
            <a:ext cx="560551" cy="5968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07988" y="1412875"/>
            <a:ext cx="11376000" cy="4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9040813" y="6489594"/>
            <a:ext cx="2743200" cy="16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67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773081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29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82D6-6424-C8CE-5191-DF9083FE4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77" y="1660400"/>
            <a:ext cx="10800000" cy="1846659"/>
          </a:xfrm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dirty="0"/>
              <a:t>Accounts Payable Value Framing</a:t>
            </a:r>
            <a:br>
              <a:rPr lang="en-US" dirty="0"/>
            </a:br>
            <a:r>
              <a:rPr lang="en-US" dirty="0"/>
              <a:t>Business Case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9A7B6-7E53-5DF6-DFA6-A3988CEEB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3577" y="5525995"/>
            <a:ext cx="10800000" cy="369332"/>
          </a:xfrm>
        </p:spPr>
        <p:txBody>
          <a:bodyPr anchor="ctr"/>
          <a:lstStyle/>
          <a:p>
            <a:pPr marL="304793" indent="0" algn="ctr">
              <a:lnSpc>
                <a:spcPct val="150000"/>
              </a:lnSpc>
            </a:pPr>
            <a:r>
              <a:rPr lang="en-IN" dirty="0"/>
              <a:t>Made by – Komal Harshita Karanakota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46119-E515-D47A-3E9B-D632EE88CF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3577" y="5895327"/>
            <a:ext cx="10800000" cy="369332"/>
          </a:xfrm>
        </p:spPr>
        <p:txBody>
          <a:bodyPr anchor="ctr"/>
          <a:lstStyle/>
          <a:p>
            <a:pPr marL="304793" indent="0" algn="ctr">
              <a:lnSpc>
                <a:spcPct val="150000"/>
              </a:lnSpc>
            </a:pPr>
            <a:r>
              <a:rPr lang="en-US" dirty="0"/>
              <a:t>Celonis × AICTE Virtual BA Internship  |  March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1CFBE2-F9E2-0F77-0F21-DD18BC06C3B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3577" y="3593197"/>
            <a:ext cx="10800000" cy="923330"/>
          </a:xfrm>
        </p:spPr>
        <p:txBody>
          <a:bodyPr anchor="ctr"/>
          <a:lstStyle/>
          <a:p>
            <a:pPr marL="304793" indent="0" algn="ctr">
              <a:lnSpc>
                <a:spcPct val="150000"/>
              </a:lnSpc>
            </a:pPr>
            <a:r>
              <a:rPr lang="en-US" dirty="0"/>
              <a:t>A Process Mining Analysis of P2P Deviations and Improvement Opportunities Using Celonis 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100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02E84B-1EF4-D795-7A22-035ED2A97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7707" y="5183626"/>
            <a:ext cx="4281600" cy="966418"/>
          </a:xfrm>
        </p:spPr>
        <p:txBody>
          <a:bodyPr/>
          <a:lstStyle/>
          <a:p>
            <a:pPr marL="304793" indent="0"/>
            <a:r>
              <a:rPr lang="en-US" sz="1570" dirty="0"/>
              <a:t>Both focus opportunities in this project target the Productivity pillar,</a:t>
            </a:r>
          </a:p>
          <a:p>
            <a:pPr marL="304793" indent="0"/>
            <a:r>
              <a:rPr lang="en-US" sz="1570" dirty="0"/>
              <a:t>directly impacting Free Cash Flow through P&amp;L improvement</a:t>
            </a:r>
            <a:endParaRPr lang="en-IN" sz="157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58B8F4-6001-E753-8B28-041255834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000" y="370299"/>
            <a:ext cx="5435600" cy="820866"/>
          </a:xfrm>
        </p:spPr>
        <p:txBody>
          <a:bodyPr/>
          <a:lstStyle/>
          <a:p>
            <a:r>
              <a:rPr lang="en-US" dirty="0"/>
              <a:t>Why Accounts Payable? The Value Framework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EA652-C374-55C3-358B-8541EF463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707" y="1191165"/>
            <a:ext cx="5490117" cy="30891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C2F032-C805-5211-4DAA-8E9818989C9F}"/>
              </a:ext>
            </a:extLst>
          </p:cNvPr>
          <p:cNvSpPr txBox="1"/>
          <p:nvPr/>
        </p:nvSpPr>
        <p:spPr>
          <a:xfrm>
            <a:off x="6610816" y="4280271"/>
            <a:ext cx="6094140" cy="247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sz="1100" b="0" i="1" dirty="0">
                <a:solidFill>
                  <a:schemeClr val="bg1">
                    <a:lumMod val="85000"/>
                  </a:schemeClr>
                </a:solidFill>
                <a:effectLst/>
                <a:latin typeface="Consolas" panose="020B0609020204030204" pitchFamily="49" charset="0"/>
              </a:rPr>
              <a:t>"Source: Celonis AP Value Tree — Execution Excellence Framework</a:t>
            </a:r>
            <a:endParaRPr lang="en-US" sz="1100" b="0" dirty="0">
              <a:solidFill>
                <a:schemeClr val="bg1">
                  <a:lumMod val="8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7B24373-B477-BA68-BD28-6F64CC2D8E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2167386"/>
              </p:ext>
            </p:extLst>
          </p:nvPr>
        </p:nvGraphicFramePr>
        <p:xfrm>
          <a:off x="234176" y="1791918"/>
          <a:ext cx="5609424" cy="4898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55278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AADC-0E9A-C30A-8F37-9E534DD80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83" y="221524"/>
            <a:ext cx="3435007" cy="19389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The Dataset: P2P Event Log — Key Statistics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C3425D-7111-5886-72E8-8EC0F20CF7AE}"/>
              </a:ext>
            </a:extLst>
          </p:cNvPr>
          <p:cNvSpPr/>
          <p:nvPr/>
        </p:nvSpPr>
        <p:spPr>
          <a:xfrm>
            <a:off x="4281912" y="423083"/>
            <a:ext cx="1380142" cy="5028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812 Cases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05E34B-789C-C563-BC36-E24ACD053496}"/>
              </a:ext>
            </a:extLst>
          </p:cNvPr>
          <p:cNvSpPr/>
          <p:nvPr/>
        </p:nvSpPr>
        <p:spPr>
          <a:xfrm>
            <a:off x="6101172" y="423083"/>
            <a:ext cx="1380142" cy="5028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4,927 Events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9462AA-F297-2CB8-9B6E-EEBCD0909985}"/>
              </a:ext>
            </a:extLst>
          </p:cNvPr>
          <p:cNvSpPr/>
          <p:nvPr/>
        </p:nvSpPr>
        <p:spPr>
          <a:xfrm>
            <a:off x="7920432" y="423083"/>
            <a:ext cx="1380142" cy="5028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20 Vendors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BEA87C-2F98-AF7E-2A34-6B38ED133907}"/>
              </a:ext>
            </a:extLst>
          </p:cNvPr>
          <p:cNvSpPr/>
          <p:nvPr/>
        </p:nvSpPr>
        <p:spPr>
          <a:xfrm>
            <a:off x="9739691" y="423083"/>
            <a:ext cx="1380142" cy="502806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29.6 Days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4DC10E0-A4FC-F4EA-67A9-FF9EB2CEFE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4919404"/>
              </p:ext>
            </p:extLst>
          </p:nvPr>
        </p:nvGraphicFramePr>
        <p:xfrm>
          <a:off x="4281912" y="1695203"/>
          <a:ext cx="7646850" cy="1178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FA91C1F-2674-EF72-0C21-1C33D574D7D9}"/>
              </a:ext>
            </a:extLst>
          </p:cNvPr>
          <p:cNvSpPr txBox="1"/>
          <p:nvPr/>
        </p:nvSpPr>
        <p:spPr>
          <a:xfrm>
            <a:off x="4281912" y="1439121"/>
            <a:ext cx="2220912" cy="272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IN" b="0" dirty="0"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Process 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840DBB-C356-8231-20DD-03FE80E99EAA}"/>
              </a:ext>
            </a:extLst>
          </p:cNvPr>
          <p:cNvSpPr txBox="1"/>
          <p:nvPr/>
        </p:nvSpPr>
        <p:spPr>
          <a:xfrm>
            <a:off x="119412" y="2539574"/>
            <a:ext cx="3763149" cy="190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Process Composition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• Happy Path Cases:   537 (66.1%)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• Deviant Cases:      275 (33.9%)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• Deviation Events:   310 of 4,927 (6.3%)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F09F8D-CD99-8383-BEBF-0009D188455C}"/>
              </a:ext>
            </a:extLst>
          </p:cNvPr>
          <p:cNvSpPr txBox="1"/>
          <p:nvPr/>
        </p:nvSpPr>
        <p:spPr>
          <a:xfrm>
            <a:off x="119412" y="4672208"/>
            <a:ext cx="3763149" cy="1904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600" b="1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Automation Profile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• Automated Events:  2,341 (47.5%)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• Manual Events:     2,586 (52.5%)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0" dirty="0"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• Automation Gap:    ▼ Target: 70%+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0C8393A-892D-90D5-1285-8D61768B56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43"/>
          <a:stretch>
            <a:fillRect/>
          </a:stretch>
        </p:blipFill>
        <p:spPr>
          <a:xfrm>
            <a:off x="5901251" y="3070123"/>
            <a:ext cx="4816379" cy="350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1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ACB6-442B-0A3E-A7DA-B1372E0A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318" y="386342"/>
            <a:ext cx="11376000" cy="492443"/>
          </a:xfrm>
        </p:spPr>
        <p:txBody>
          <a:bodyPr anchor="ctr"/>
          <a:lstStyle/>
          <a:p>
            <a:pPr algn="l"/>
            <a:r>
              <a:rPr lang="en-US" sz="3200" dirty="0"/>
              <a:t>Where Does the Process Break Down?</a:t>
            </a:r>
            <a:endParaRPr lang="en-IN" sz="32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7F99567-23CC-79BD-5D43-BB841AA9C6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404398"/>
              </p:ext>
            </p:extLst>
          </p:nvPr>
        </p:nvGraphicFramePr>
        <p:xfrm>
          <a:off x="320318" y="1238724"/>
          <a:ext cx="5905118" cy="4986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9544140-2ABD-262A-B81E-7D640C3FAE9C}"/>
              </a:ext>
            </a:extLst>
          </p:cNvPr>
          <p:cNvSpPr/>
          <p:nvPr/>
        </p:nvSpPr>
        <p:spPr>
          <a:xfrm>
            <a:off x="9231682" y="1367424"/>
            <a:ext cx="2464636" cy="191439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🔒 BLOCKED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58 block events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(PO + Payment)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delay invoice clearance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93F172-CC30-A23F-C6F1-E7B9A359DCD0}"/>
              </a:ext>
            </a:extLst>
          </p:cNvPr>
          <p:cNvSpPr/>
          <p:nvPr/>
        </p:nvSpPr>
        <p:spPr>
          <a:xfrm>
            <a:off x="6496241" y="1367424"/>
            <a:ext cx="2464636" cy="191439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⚠️ CRITICAL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110 price corrections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= highest rework type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(35.5% of all deviations)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6BAC1D-0A8F-2E26-9A65-BA93D8567006}"/>
              </a:ext>
            </a:extLst>
          </p:cNvPr>
          <p:cNvSpPr/>
          <p:nvPr/>
        </p:nvSpPr>
        <p:spPr>
          <a:xfrm>
            <a:off x="6496241" y="3732757"/>
            <a:ext cx="2464636" cy="2008910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📈 SCALE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33.9% of all cases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affected by at least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one deviation event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802314-E821-0FD9-5DB4-D638D233290E}"/>
              </a:ext>
            </a:extLst>
          </p:cNvPr>
          <p:cNvSpPr/>
          <p:nvPr/>
        </p:nvSpPr>
        <p:spPr>
          <a:xfrm>
            <a:off x="9231682" y="3732757"/>
            <a:ext cx="2464636" cy="200891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💡 OPPORTUNITY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Reducing 50% of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deviation events saves</a:t>
            </a:r>
          </a:p>
          <a:p>
            <a:pPr algn="ctr"/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~35 FTE-days annually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0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1;p83">
            <a:extLst>
              <a:ext uri="{FF2B5EF4-FFF2-40B4-BE49-F238E27FC236}">
                <a16:creationId xmlns:a16="http://schemas.microsoft.com/office/drawing/2014/main" id="{3143A440-48E6-07E0-F05F-2F9133543A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69456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/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Opportunity 1: Resolve Payment Blocks &amp; PO Holds</a:t>
            </a:r>
            <a:endParaRPr sz="1050" b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692;p83">
            <a:extLst>
              <a:ext uri="{FF2B5EF4-FFF2-40B4-BE49-F238E27FC236}">
                <a16:creationId xmlns:a16="http://schemas.microsoft.com/office/drawing/2014/main" id="{8CAFE067-5A1D-10FD-89CA-CC2C2D302888}"/>
              </a:ext>
            </a:extLst>
          </p:cNvPr>
          <p:cNvSpPr txBox="1"/>
          <p:nvPr/>
        </p:nvSpPr>
        <p:spPr>
          <a:xfrm>
            <a:off x="606567" y="1367016"/>
            <a:ext cx="5255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Challenge</a:t>
            </a:r>
            <a:endParaRPr sz="1600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" name="Google Shape;693;p83">
            <a:extLst>
              <a:ext uri="{FF2B5EF4-FFF2-40B4-BE49-F238E27FC236}">
                <a16:creationId xmlns:a16="http://schemas.microsoft.com/office/drawing/2014/main" id="{4BF9AD7C-0E31-965D-10B0-DD1737EF720A}"/>
              </a:ext>
            </a:extLst>
          </p:cNvPr>
          <p:cNvSpPr txBox="1"/>
          <p:nvPr/>
        </p:nvSpPr>
        <p:spPr>
          <a:xfrm>
            <a:off x="606567" y="1776166"/>
            <a:ext cx="5722232" cy="201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- 20 Set Payment Block events across 20 unique PO cases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- 38 Block Purchase Order Item events = 58 total blocking events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Each block requires manual investigation and resolution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Blocks cause: delayed payments → missed early-pay discounts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 → strained vendor relationships → increased DPO</a:t>
            </a:r>
          </a:p>
        </p:txBody>
      </p:sp>
      <p:cxnSp>
        <p:nvCxnSpPr>
          <p:cNvPr id="6" name="Google Shape;694;p83">
            <a:extLst>
              <a:ext uri="{FF2B5EF4-FFF2-40B4-BE49-F238E27FC236}">
                <a16:creationId xmlns:a16="http://schemas.microsoft.com/office/drawing/2014/main" id="{FE6A624D-B702-9596-553C-FC83587E660B}"/>
              </a:ext>
            </a:extLst>
          </p:cNvPr>
          <p:cNvCxnSpPr/>
          <p:nvPr/>
        </p:nvCxnSpPr>
        <p:spPr>
          <a:xfrm>
            <a:off x="606567" y="1664971"/>
            <a:ext cx="5255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695;p83">
            <a:extLst>
              <a:ext uri="{FF2B5EF4-FFF2-40B4-BE49-F238E27FC236}">
                <a16:creationId xmlns:a16="http://schemas.microsoft.com/office/drawing/2014/main" id="{6BD575C8-0C27-6D99-9624-75D3ADC16C6E}"/>
              </a:ext>
            </a:extLst>
          </p:cNvPr>
          <p:cNvSpPr txBox="1"/>
          <p:nvPr/>
        </p:nvSpPr>
        <p:spPr>
          <a:xfrm>
            <a:off x="606567" y="3458023"/>
            <a:ext cx="5255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Solution</a:t>
            </a:r>
            <a:endParaRPr sz="16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8" name="Google Shape;696;p83">
            <a:extLst>
              <a:ext uri="{FF2B5EF4-FFF2-40B4-BE49-F238E27FC236}">
                <a16:creationId xmlns:a16="http://schemas.microsoft.com/office/drawing/2014/main" id="{80671F94-3C26-28D1-4203-1CA364D6DB61}"/>
              </a:ext>
            </a:extLst>
          </p:cNvPr>
          <p:cNvSpPr txBox="1"/>
          <p:nvPr/>
        </p:nvSpPr>
        <p:spPr>
          <a:xfrm>
            <a:off x="606566" y="3828279"/>
            <a:ext cx="5722233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01082" indent="-171450" defTabSz="1219170">
              <a:spcAft>
                <a:spcPts val="800"/>
              </a:spcAft>
              <a:buClr>
                <a:srgbClr val="2C2A2A"/>
              </a:buClr>
              <a:buSzPts val="700"/>
              <a:buFontTx/>
              <a:buChar char="-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Implement automated block detection via Celonis</a:t>
            </a:r>
          </a:p>
          <a:p>
            <a:pPr marL="201082" indent="-171450" defTabSz="1219170">
              <a:spcAft>
                <a:spcPts val="800"/>
              </a:spcAft>
              <a:buClr>
                <a:srgbClr val="2C2A2A"/>
              </a:buClr>
              <a:buSzPts val="700"/>
              <a:buFontTx/>
              <a:buChar char="-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Parked &amp; Blocked Invoices Starter Kit App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Set up Action Flows: notify AP team + buyer when a block event occurs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Automate goods receipt confirmation for trusted vendors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Vendor alignment session for top-5 deviation vendors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9" name="Google Shape;697;p83">
            <a:extLst>
              <a:ext uri="{FF2B5EF4-FFF2-40B4-BE49-F238E27FC236}">
                <a16:creationId xmlns:a16="http://schemas.microsoft.com/office/drawing/2014/main" id="{F477CEA7-EBB3-D776-DDA9-0AA984EA5DA7}"/>
              </a:ext>
            </a:extLst>
          </p:cNvPr>
          <p:cNvCxnSpPr/>
          <p:nvPr/>
        </p:nvCxnSpPr>
        <p:spPr>
          <a:xfrm>
            <a:off x="606567" y="3755979"/>
            <a:ext cx="5255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698;p83">
            <a:extLst>
              <a:ext uri="{FF2B5EF4-FFF2-40B4-BE49-F238E27FC236}">
                <a16:creationId xmlns:a16="http://schemas.microsoft.com/office/drawing/2014/main" id="{A93C4E16-AC67-CE8F-DCA0-34FA4BBCD390}"/>
              </a:ext>
            </a:extLst>
          </p:cNvPr>
          <p:cNvSpPr txBox="1"/>
          <p:nvPr/>
        </p:nvSpPr>
        <p:spPr>
          <a:xfrm>
            <a:off x="606557" y="5323545"/>
            <a:ext cx="10976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Value</a:t>
            </a:r>
            <a:endParaRPr sz="16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11" name="Google Shape;699;p83">
            <a:extLst>
              <a:ext uri="{FF2B5EF4-FFF2-40B4-BE49-F238E27FC236}">
                <a16:creationId xmlns:a16="http://schemas.microsoft.com/office/drawing/2014/main" id="{DFEFD4DB-6AF6-E93E-B21E-39D0F64F3A0F}"/>
              </a:ext>
            </a:extLst>
          </p:cNvPr>
          <p:cNvCxnSpPr>
            <a:cxnSpLocks/>
          </p:cNvCxnSpPr>
          <p:nvPr/>
        </p:nvCxnSpPr>
        <p:spPr>
          <a:xfrm>
            <a:off x="606557" y="5621532"/>
            <a:ext cx="9185647" cy="613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700;p83">
            <a:extLst>
              <a:ext uri="{FF2B5EF4-FFF2-40B4-BE49-F238E27FC236}">
                <a16:creationId xmlns:a16="http://schemas.microsoft.com/office/drawing/2014/main" id="{3E6D9F82-407E-1981-B93D-27F1C2E3B902}"/>
              </a:ext>
            </a:extLst>
          </p:cNvPr>
          <p:cNvSpPr/>
          <p:nvPr/>
        </p:nvSpPr>
        <p:spPr>
          <a:xfrm>
            <a:off x="607400" y="5654407"/>
            <a:ext cx="13056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Blocking events</a:t>
            </a:r>
            <a:endParaRPr sz="933" kern="0" dirty="0">
              <a:solidFill>
                <a:srgbClr val="000000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Google Shape;701;p83">
            <a:extLst>
              <a:ext uri="{FF2B5EF4-FFF2-40B4-BE49-F238E27FC236}">
                <a16:creationId xmlns:a16="http://schemas.microsoft.com/office/drawing/2014/main" id="{A9AF20CC-B259-5E80-C23C-7DA1872FD6EF}"/>
              </a:ext>
            </a:extLst>
          </p:cNvPr>
          <p:cNvSpPr/>
          <p:nvPr/>
        </p:nvSpPr>
        <p:spPr>
          <a:xfrm>
            <a:off x="607400" y="6123961"/>
            <a:ext cx="13056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58</a:t>
            </a:r>
            <a:endParaRPr sz="20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Google Shape;704;p83">
            <a:extLst>
              <a:ext uri="{FF2B5EF4-FFF2-40B4-BE49-F238E27FC236}">
                <a16:creationId xmlns:a16="http://schemas.microsoft.com/office/drawing/2014/main" id="{6B92D4B7-5DDE-0B08-FFA2-3BE04F5F40B4}"/>
              </a:ext>
            </a:extLst>
          </p:cNvPr>
          <p:cNvSpPr/>
          <p:nvPr/>
        </p:nvSpPr>
        <p:spPr>
          <a:xfrm>
            <a:off x="2708768" y="5654407"/>
            <a:ext cx="13064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Effort per rework activity</a:t>
            </a:r>
            <a:endParaRPr sz="933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7" name="Google Shape;705;p83">
            <a:extLst>
              <a:ext uri="{FF2B5EF4-FFF2-40B4-BE49-F238E27FC236}">
                <a16:creationId xmlns:a16="http://schemas.microsoft.com/office/drawing/2014/main" id="{EF1DD82C-749F-DD81-FDBB-2E7D947D30F6}"/>
              </a:ext>
            </a:extLst>
          </p:cNvPr>
          <p:cNvSpPr/>
          <p:nvPr/>
        </p:nvSpPr>
        <p:spPr>
          <a:xfrm>
            <a:off x="2784620" y="6128313"/>
            <a:ext cx="13064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15 min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8" name="Google Shape;706;p83">
            <a:extLst>
              <a:ext uri="{FF2B5EF4-FFF2-40B4-BE49-F238E27FC236}">
                <a16:creationId xmlns:a16="http://schemas.microsoft.com/office/drawing/2014/main" id="{FAD0ABE7-F875-7EB3-643A-591DAEDB53E0}"/>
              </a:ext>
            </a:extLst>
          </p:cNvPr>
          <p:cNvSpPr/>
          <p:nvPr/>
        </p:nvSpPr>
        <p:spPr>
          <a:xfrm>
            <a:off x="5075020" y="5648065"/>
            <a:ext cx="13064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FTE cost per minute</a:t>
            </a:r>
            <a:endParaRPr sz="933" b="1" kern="0" baseline="300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9" name="Google Shape;707;p83">
            <a:extLst>
              <a:ext uri="{FF2B5EF4-FFF2-40B4-BE49-F238E27FC236}">
                <a16:creationId xmlns:a16="http://schemas.microsoft.com/office/drawing/2014/main" id="{A09344C1-226A-E2E8-08C1-F9CF8A0635B9}"/>
              </a:ext>
            </a:extLst>
          </p:cNvPr>
          <p:cNvSpPr/>
          <p:nvPr/>
        </p:nvSpPr>
        <p:spPr>
          <a:xfrm>
            <a:off x="4962640" y="6121972"/>
            <a:ext cx="13064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$0.42 / min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0" name="Google Shape;708;p83">
            <a:extLst>
              <a:ext uri="{FF2B5EF4-FFF2-40B4-BE49-F238E27FC236}">
                <a16:creationId xmlns:a16="http://schemas.microsoft.com/office/drawing/2014/main" id="{A62B871D-61BC-89F1-0DA2-8854833FFC59}"/>
              </a:ext>
            </a:extLst>
          </p:cNvPr>
          <p:cNvSpPr/>
          <p:nvPr/>
        </p:nvSpPr>
        <p:spPr>
          <a:xfrm>
            <a:off x="7140647" y="5648065"/>
            <a:ext cx="13064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Improvement w/ Celonis</a:t>
            </a:r>
            <a:endParaRPr sz="933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2" name="Google Shape;710;p83">
            <a:extLst>
              <a:ext uri="{FF2B5EF4-FFF2-40B4-BE49-F238E27FC236}">
                <a16:creationId xmlns:a16="http://schemas.microsoft.com/office/drawing/2014/main" id="{6A4DE494-71C4-6D1C-F4A2-49CA3D481B3D}"/>
              </a:ext>
            </a:extLst>
          </p:cNvPr>
          <p:cNvSpPr txBox="1"/>
          <p:nvPr/>
        </p:nvSpPr>
        <p:spPr>
          <a:xfrm>
            <a:off x="2128610" y="6080855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x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3" name="Google Shape;711;p83">
            <a:extLst>
              <a:ext uri="{FF2B5EF4-FFF2-40B4-BE49-F238E27FC236}">
                <a16:creationId xmlns:a16="http://schemas.microsoft.com/office/drawing/2014/main" id="{E10810AB-3717-52D2-3B0C-EFBF782D290D}"/>
              </a:ext>
            </a:extLst>
          </p:cNvPr>
          <p:cNvSpPr txBox="1"/>
          <p:nvPr/>
        </p:nvSpPr>
        <p:spPr>
          <a:xfrm>
            <a:off x="6484650" y="6080855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x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4" name="Google Shape;712;p83">
            <a:extLst>
              <a:ext uri="{FF2B5EF4-FFF2-40B4-BE49-F238E27FC236}">
                <a16:creationId xmlns:a16="http://schemas.microsoft.com/office/drawing/2014/main" id="{5051113B-F74D-A714-663D-8AC9B25C9AA9}"/>
              </a:ext>
            </a:extLst>
          </p:cNvPr>
          <p:cNvSpPr txBox="1"/>
          <p:nvPr/>
        </p:nvSpPr>
        <p:spPr>
          <a:xfrm>
            <a:off x="4306630" y="6080855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x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5" name="Google Shape;713;p83">
            <a:extLst>
              <a:ext uri="{FF2B5EF4-FFF2-40B4-BE49-F238E27FC236}">
                <a16:creationId xmlns:a16="http://schemas.microsoft.com/office/drawing/2014/main" id="{55114989-1B22-DB51-6B06-C86864F36008}"/>
              </a:ext>
            </a:extLst>
          </p:cNvPr>
          <p:cNvSpPr txBox="1"/>
          <p:nvPr/>
        </p:nvSpPr>
        <p:spPr>
          <a:xfrm>
            <a:off x="8662242" y="6058911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=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6" name="Google Shape;714;p83">
            <a:extLst>
              <a:ext uri="{FF2B5EF4-FFF2-40B4-BE49-F238E27FC236}">
                <a16:creationId xmlns:a16="http://schemas.microsoft.com/office/drawing/2014/main" id="{24BA6D94-C7B2-5116-E82B-8650A75BCA58}"/>
              </a:ext>
            </a:extLst>
          </p:cNvPr>
          <p:cNvSpPr/>
          <p:nvPr/>
        </p:nvSpPr>
        <p:spPr>
          <a:xfrm>
            <a:off x="7140660" y="6128313"/>
            <a:ext cx="13064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80%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7" name="Google Shape;715;p83">
            <a:extLst>
              <a:ext uri="{FF2B5EF4-FFF2-40B4-BE49-F238E27FC236}">
                <a16:creationId xmlns:a16="http://schemas.microsoft.com/office/drawing/2014/main" id="{E421BC7F-3BD8-4131-9309-5671FAAA64F4}"/>
              </a:ext>
            </a:extLst>
          </p:cNvPr>
          <p:cNvSpPr/>
          <p:nvPr/>
        </p:nvSpPr>
        <p:spPr>
          <a:xfrm>
            <a:off x="8998042" y="5873190"/>
            <a:ext cx="2049200" cy="73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2667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$292 </a:t>
            </a:r>
            <a:endParaRPr sz="2667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algn="ctr" defTabSz="1219170">
              <a:buClr>
                <a:srgbClr val="000000"/>
              </a:buClr>
              <a:buSzPts val="800"/>
            </a:pPr>
            <a:r>
              <a:rPr lang="en" sz="1067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Potential Savings p.a.</a:t>
            </a:r>
            <a:endParaRPr sz="1067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0" name="Google Shape;718;p83">
            <a:extLst>
              <a:ext uri="{FF2B5EF4-FFF2-40B4-BE49-F238E27FC236}">
                <a16:creationId xmlns:a16="http://schemas.microsoft.com/office/drawing/2014/main" id="{6023C072-56E7-4A29-E6B5-4BD428222F4A}"/>
              </a:ext>
            </a:extLst>
          </p:cNvPr>
          <p:cNvSpPr txBox="1"/>
          <p:nvPr/>
        </p:nvSpPr>
        <p:spPr>
          <a:xfrm>
            <a:off x="6328800" y="1363516"/>
            <a:ext cx="5255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Root Cause</a:t>
            </a:r>
            <a:endParaRPr sz="1600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1" name="Google Shape;719;p83">
            <a:extLst>
              <a:ext uri="{FF2B5EF4-FFF2-40B4-BE49-F238E27FC236}">
                <a16:creationId xmlns:a16="http://schemas.microsoft.com/office/drawing/2014/main" id="{A7BA1F56-2028-3B7D-DA4F-79B4808FF37F}"/>
              </a:ext>
            </a:extLst>
          </p:cNvPr>
          <p:cNvSpPr txBox="1"/>
          <p:nvPr/>
        </p:nvSpPr>
        <p:spPr>
          <a:xfrm>
            <a:off x="6328800" y="1772667"/>
            <a:ext cx="52552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Price/quantity mismatches between PO and vendor invoice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 (upstream cause: Change Price events)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Missing goods receipt confirmation auto-triggers block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- 52.5% manual activity rate = high human error exposure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No automated block detection or escalation workflow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Vendor 0000001001 drives 31% of Change Price events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 (upstream root cause of many blocks)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32" name="Google Shape;720;p83">
            <a:extLst>
              <a:ext uri="{FF2B5EF4-FFF2-40B4-BE49-F238E27FC236}">
                <a16:creationId xmlns:a16="http://schemas.microsoft.com/office/drawing/2014/main" id="{98B49C10-5EA1-D2E5-1E88-6B34305A6435}"/>
              </a:ext>
            </a:extLst>
          </p:cNvPr>
          <p:cNvCxnSpPr/>
          <p:nvPr/>
        </p:nvCxnSpPr>
        <p:spPr>
          <a:xfrm>
            <a:off x="6328800" y="1661471"/>
            <a:ext cx="5255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725;p83">
            <a:extLst>
              <a:ext uri="{FF2B5EF4-FFF2-40B4-BE49-F238E27FC236}">
                <a16:creationId xmlns:a16="http://schemas.microsoft.com/office/drawing/2014/main" id="{5F8DF44E-8FA9-A164-43A4-43CF9FAC8732}"/>
              </a:ext>
            </a:extLst>
          </p:cNvPr>
          <p:cNvSpPr txBox="1"/>
          <p:nvPr/>
        </p:nvSpPr>
        <p:spPr>
          <a:xfrm>
            <a:off x="6429466" y="3914866"/>
            <a:ext cx="4869905" cy="105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300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Assumptions:</a:t>
            </a:r>
            <a:r>
              <a:rPr lang="en" sz="13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</a:p>
          <a:p>
            <a:pPr defTabSz="1219170">
              <a:buClr>
                <a:srgbClr val="000000"/>
              </a:buClr>
            </a:pPr>
            <a:endParaRPr lang="en" sz="12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Poppins"/>
            </a:endParaRPr>
          </a:p>
          <a:p>
            <a:pPr defTabSz="1219170">
              <a:buClr>
                <a:srgbClr val="000000"/>
              </a:buClr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$90K FTE cost/yr </a:t>
            </a:r>
          </a:p>
          <a:p>
            <a:pPr defTabSz="1219170">
              <a:buClr>
                <a:srgbClr val="000000"/>
              </a:buClr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15 min/block </a:t>
            </a:r>
          </a:p>
          <a:p>
            <a:pPr defTabSz="1219170">
              <a:buClr>
                <a:srgbClr val="000000"/>
              </a:buClr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Source: Celonis Value Framing Guide</a:t>
            </a:r>
            <a:endParaRPr sz="1400" i="1" kern="0" dirty="0">
              <a:solidFill>
                <a:srgbClr val="000000"/>
              </a:solidFill>
              <a:highlight>
                <a:srgbClr val="5CFE50"/>
              </a:highlight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8" name="Google Shape;726;p83">
            <a:extLst>
              <a:ext uri="{FF2B5EF4-FFF2-40B4-BE49-F238E27FC236}">
                <a16:creationId xmlns:a16="http://schemas.microsoft.com/office/drawing/2014/main" id="{08F70E6C-9B0E-9194-695D-288DD82A359C}"/>
              </a:ext>
            </a:extLst>
          </p:cNvPr>
          <p:cNvSpPr/>
          <p:nvPr/>
        </p:nvSpPr>
        <p:spPr>
          <a:xfrm>
            <a:off x="8882442" y="5473665"/>
            <a:ext cx="2280400" cy="3488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Committed Value</a:t>
            </a:r>
            <a:endParaRPr sz="1200" kern="0" dirty="0">
              <a:solidFill>
                <a:srgbClr val="FFFFFF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51196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76FF-84D1-7021-D0F0-C4054FAC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91;p83">
            <a:extLst>
              <a:ext uri="{FF2B5EF4-FFF2-40B4-BE49-F238E27FC236}">
                <a16:creationId xmlns:a16="http://schemas.microsoft.com/office/drawing/2014/main" id="{1CC1C8D5-6D78-9CC7-0A14-DA16410765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988" y="370304"/>
            <a:ext cx="10594000" cy="61719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l"/>
            <a:r>
              <a:rPr lang="en-US" sz="3200" dirty="0">
                <a:latin typeface="Poppins" panose="00000500000000000000" pitchFamily="2" charset="0"/>
                <a:cs typeface="Poppins" panose="00000500000000000000" pitchFamily="2" charset="0"/>
              </a:rPr>
              <a:t>Opportunity 2: Eliminate Price Deviation Rework</a:t>
            </a:r>
            <a:endParaRPr sz="1050" b="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Google Shape;692;p83">
            <a:extLst>
              <a:ext uri="{FF2B5EF4-FFF2-40B4-BE49-F238E27FC236}">
                <a16:creationId xmlns:a16="http://schemas.microsoft.com/office/drawing/2014/main" id="{09648F72-C324-4AD8-64E0-4EAD45305EB3}"/>
              </a:ext>
            </a:extLst>
          </p:cNvPr>
          <p:cNvSpPr txBox="1"/>
          <p:nvPr/>
        </p:nvSpPr>
        <p:spPr>
          <a:xfrm>
            <a:off x="606567" y="1367016"/>
            <a:ext cx="5255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Challenge</a:t>
            </a:r>
            <a:endParaRPr sz="1600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5" name="Google Shape;693;p83">
            <a:extLst>
              <a:ext uri="{FF2B5EF4-FFF2-40B4-BE49-F238E27FC236}">
                <a16:creationId xmlns:a16="http://schemas.microsoft.com/office/drawing/2014/main" id="{B358179D-52BA-451C-64AF-55DCB588AFD3}"/>
              </a:ext>
            </a:extLst>
          </p:cNvPr>
          <p:cNvSpPr txBox="1"/>
          <p:nvPr/>
        </p:nvSpPr>
        <p:spPr>
          <a:xfrm>
            <a:off x="606567" y="1776166"/>
            <a:ext cx="5722232" cy="2010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- 110 Change Price events = the #1 deviation in the entire process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- 13.5% of all PO items require a post-issuance price correction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Vendor 0000001001: 34 events (31% of all Change Price)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Vendor R1000: 21 events (19% of all Change Price)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Top 2 vendors account for 50% of all price correction effort</a:t>
            </a:r>
          </a:p>
        </p:txBody>
      </p:sp>
      <p:cxnSp>
        <p:nvCxnSpPr>
          <p:cNvPr id="6" name="Google Shape;694;p83">
            <a:extLst>
              <a:ext uri="{FF2B5EF4-FFF2-40B4-BE49-F238E27FC236}">
                <a16:creationId xmlns:a16="http://schemas.microsoft.com/office/drawing/2014/main" id="{F5C75A38-0277-2E2A-B278-468D66A435A9}"/>
              </a:ext>
            </a:extLst>
          </p:cNvPr>
          <p:cNvCxnSpPr/>
          <p:nvPr/>
        </p:nvCxnSpPr>
        <p:spPr>
          <a:xfrm>
            <a:off x="606567" y="1664971"/>
            <a:ext cx="5255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Google Shape;695;p83">
            <a:extLst>
              <a:ext uri="{FF2B5EF4-FFF2-40B4-BE49-F238E27FC236}">
                <a16:creationId xmlns:a16="http://schemas.microsoft.com/office/drawing/2014/main" id="{71D42A90-6000-C03D-9CFB-065522F9B105}"/>
              </a:ext>
            </a:extLst>
          </p:cNvPr>
          <p:cNvSpPr txBox="1"/>
          <p:nvPr/>
        </p:nvSpPr>
        <p:spPr>
          <a:xfrm>
            <a:off x="606567" y="3223852"/>
            <a:ext cx="5255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Solution</a:t>
            </a:r>
            <a:endParaRPr sz="16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8" name="Google Shape;696;p83">
            <a:extLst>
              <a:ext uri="{FF2B5EF4-FFF2-40B4-BE49-F238E27FC236}">
                <a16:creationId xmlns:a16="http://schemas.microsoft.com/office/drawing/2014/main" id="{F07A7FF6-B84F-7408-7DBE-7855237A6796}"/>
              </a:ext>
            </a:extLst>
          </p:cNvPr>
          <p:cNvSpPr txBox="1"/>
          <p:nvPr/>
        </p:nvSpPr>
        <p:spPr>
          <a:xfrm>
            <a:off x="606566" y="3594108"/>
            <a:ext cx="5722233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Master data fix: update vendor price lists in SAP for top-5 deviation vendors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Implement 3-way match automation (PO–GR–Invoice)to catch mismatches before manual intervention needed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Set up Celonis alerts for price delta &gt; 5% threshold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Quarterly vendor price reconciliation process</a:t>
            </a:r>
          </a:p>
          <a:p>
            <a:pPr marL="29632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US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- Target: reduce Change Price events by 70%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9" name="Google Shape;697;p83">
            <a:extLst>
              <a:ext uri="{FF2B5EF4-FFF2-40B4-BE49-F238E27FC236}">
                <a16:creationId xmlns:a16="http://schemas.microsoft.com/office/drawing/2014/main" id="{BF3A94C5-2230-5885-A02B-046301E41D76}"/>
              </a:ext>
            </a:extLst>
          </p:cNvPr>
          <p:cNvCxnSpPr/>
          <p:nvPr/>
        </p:nvCxnSpPr>
        <p:spPr>
          <a:xfrm>
            <a:off x="606567" y="3521808"/>
            <a:ext cx="5255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698;p83">
            <a:extLst>
              <a:ext uri="{FF2B5EF4-FFF2-40B4-BE49-F238E27FC236}">
                <a16:creationId xmlns:a16="http://schemas.microsoft.com/office/drawing/2014/main" id="{142F26FA-DDDD-797C-95AC-CBACCAE790E5}"/>
              </a:ext>
            </a:extLst>
          </p:cNvPr>
          <p:cNvSpPr txBox="1"/>
          <p:nvPr/>
        </p:nvSpPr>
        <p:spPr>
          <a:xfrm>
            <a:off x="606557" y="5323545"/>
            <a:ext cx="10976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Value</a:t>
            </a:r>
            <a:endParaRPr sz="16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11" name="Google Shape;699;p83">
            <a:extLst>
              <a:ext uri="{FF2B5EF4-FFF2-40B4-BE49-F238E27FC236}">
                <a16:creationId xmlns:a16="http://schemas.microsoft.com/office/drawing/2014/main" id="{3E92A297-7069-F145-58B7-584E737C933A}"/>
              </a:ext>
            </a:extLst>
          </p:cNvPr>
          <p:cNvCxnSpPr>
            <a:cxnSpLocks/>
          </p:cNvCxnSpPr>
          <p:nvPr/>
        </p:nvCxnSpPr>
        <p:spPr>
          <a:xfrm>
            <a:off x="606557" y="5621532"/>
            <a:ext cx="9185647" cy="6136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700;p83">
            <a:extLst>
              <a:ext uri="{FF2B5EF4-FFF2-40B4-BE49-F238E27FC236}">
                <a16:creationId xmlns:a16="http://schemas.microsoft.com/office/drawing/2014/main" id="{A121715D-2C05-81CC-2932-640C987B8051}"/>
              </a:ext>
            </a:extLst>
          </p:cNvPr>
          <p:cNvSpPr/>
          <p:nvPr/>
        </p:nvSpPr>
        <p:spPr>
          <a:xfrm>
            <a:off x="607400" y="5654407"/>
            <a:ext cx="13056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Price correction events</a:t>
            </a:r>
            <a:endParaRPr sz="933" kern="0" dirty="0">
              <a:solidFill>
                <a:srgbClr val="000000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13" name="Google Shape;701;p83">
            <a:extLst>
              <a:ext uri="{FF2B5EF4-FFF2-40B4-BE49-F238E27FC236}">
                <a16:creationId xmlns:a16="http://schemas.microsoft.com/office/drawing/2014/main" id="{8D389BFA-2141-AA8C-7784-6367074D095C}"/>
              </a:ext>
            </a:extLst>
          </p:cNvPr>
          <p:cNvSpPr/>
          <p:nvPr/>
        </p:nvSpPr>
        <p:spPr>
          <a:xfrm>
            <a:off x="607400" y="6123961"/>
            <a:ext cx="13056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1200" kern="0" dirty="0">
                <a:solidFill>
                  <a:srgbClr val="000000"/>
                </a:solidFill>
                <a:latin typeface="Poppins" panose="00000500000000000000" pitchFamily="2" charset="0"/>
                <a:cs typeface="Poppins" panose="00000500000000000000" pitchFamily="2" charset="0"/>
                <a:sym typeface="Poppins"/>
              </a:rPr>
              <a:t>110</a:t>
            </a:r>
            <a:endParaRPr sz="2000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16" name="Google Shape;704;p83">
            <a:extLst>
              <a:ext uri="{FF2B5EF4-FFF2-40B4-BE49-F238E27FC236}">
                <a16:creationId xmlns:a16="http://schemas.microsoft.com/office/drawing/2014/main" id="{4F4E3765-244D-9105-E713-76052FDC13FC}"/>
              </a:ext>
            </a:extLst>
          </p:cNvPr>
          <p:cNvSpPr/>
          <p:nvPr/>
        </p:nvSpPr>
        <p:spPr>
          <a:xfrm>
            <a:off x="2708768" y="5654407"/>
            <a:ext cx="13064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Effort per rework activity</a:t>
            </a:r>
            <a:endParaRPr sz="933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7" name="Google Shape;705;p83">
            <a:extLst>
              <a:ext uri="{FF2B5EF4-FFF2-40B4-BE49-F238E27FC236}">
                <a16:creationId xmlns:a16="http://schemas.microsoft.com/office/drawing/2014/main" id="{DA0889BB-3E08-E9F7-715F-3B75D05D4427}"/>
              </a:ext>
            </a:extLst>
          </p:cNvPr>
          <p:cNvSpPr/>
          <p:nvPr/>
        </p:nvSpPr>
        <p:spPr>
          <a:xfrm>
            <a:off x="2784620" y="6128313"/>
            <a:ext cx="13064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10 min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8" name="Google Shape;706;p83">
            <a:extLst>
              <a:ext uri="{FF2B5EF4-FFF2-40B4-BE49-F238E27FC236}">
                <a16:creationId xmlns:a16="http://schemas.microsoft.com/office/drawing/2014/main" id="{9C110510-3F88-4C52-E88F-3AB567E4C1EE}"/>
              </a:ext>
            </a:extLst>
          </p:cNvPr>
          <p:cNvSpPr/>
          <p:nvPr/>
        </p:nvSpPr>
        <p:spPr>
          <a:xfrm>
            <a:off x="5075020" y="5648065"/>
            <a:ext cx="13064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FTE cost per minute</a:t>
            </a:r>
            <a:endParaRPr sz="933" b="1" kern="0" baseline="300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9" name="Google Shape;707;p83">
            <a:extLst>
              <a:ext uri="{FF2B5EF4-FFF2-40B4-BE49-F238E27FC236}">
                <a16:creationId xmlns:a16="http://schemas.microsoft.com/office/drawing/2014/main" id="{44579F13-139C-A578-AA80-EE2651E78632}"/>
              </a:ext>
            </a:extLst>
          </p:cNvPr>
          <p:cNvSpPr/>
          <p:nvPr/>
        </p:nvSpPr>
        <p:spPr>
          <a:xfrm>
            <a:off x="4962640" y="6121972"/>
            <a:ext cx="13064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$0.42 / min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0" name="Google Shape;708;p83">
            <a:extLst>
              <a:ext uri="{FF2B5EF4-FFF2-40B4-BE49-F238E27FC236}">
                <a16:creationId xmlns:a16="http://schemas.microsoft.com/office/drawing/2014/main" id="{F654B45F-11CC-2B3F-F9D7-4A022BA7839B}"/>
              </a:ext>
            </a:extLst>
          </p:cNvPr>
          <p:cNvSpPr/>
          <p:nvPr/>
        </p:nvSpPr>
        <p:spPr>
          <a:xfrm>
            <a:off x="7140647" y="5648065"/>
            <a:ext cx="1306400" cy="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933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Improvement w/ Celonis</a:t>
            </a:r>
            <a:endParaRPr sz="933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2" name="Google Shape;710;p83">
            <a:extLst>
              <a:ext uri="{FF2B5EF4-FFF2-40B4-BE49-F238E27FC236}">
                <a16:creationId xmlns:a16="http://schemas.microsoft.com/office/drawing/2014/main" id="{DD3E4633-7EDE-46EC-AED0-7C6D7AAF3820}"/>
              </a:ext>
            </a:extLst>
          </p:cNvPr>
          <p:cNvSpPr txBox="1"/>
          <p:nvPr/>
        </p:nvSpPr>
        <p:spPr>
          <a:xfrm>
            <a:off x="2128610" y="6080855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x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3" name="Google Shape;711;p83">
            <a:extLst>
              <a:ext uri="{FF2B5EF4-FFF2-40B4-BE49-F238E27FC236}">
                <a16:creationId xmlns:a16="http://schemas.microsoft.com/office/drawing/2014/main" id="{CF212036-0F03-914B-F13E-55B48DCE6A91}"/>
              </a:ext>
            </a:extLst>
          </p:cNvPr>
          <p:cNvSpPr txBox="1"/>
          <p:nvPr/>
        </p:nvSpPr>
        <p:spPr>
          <a:xfrm>
            <a:off x="6484650" y="6080855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x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4" name="Google Shape;712;p83">
            <a:extLst>
              <a:ext uri="{FF2B5EF4-FFF2-40B4-BE49-F238E27FC236}">
                <a16:creationId xmlns:a16="http://schemas.microsoft.com/office/drawing/2014/main" id="{555FB979-0391-8E7D-5E49-0DAC19BF2DE2}"/>
              </a:ext>
            </a:extLst>
          </p:cNvPr>
          <p:cNvSpPr txBox="1"/>
          <p:nvPr/>
        </p:nvSpPr>
        <p:spPr>
          <a:xfrm>
            <a:off x="4306630" y="6080855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x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5" name="Google Shape;713;p83">
            <a:extLst>
              <a:ext uri="{FF2B5EF4-FFF2-40B4-BE49-F238E27FC236}">
                <a16:creationId xmlns:a16="http://schemas.microsoft.com/office/drawing/2014/main" id="{14E7958C-B500-A0E4-46B9-5D22D605E93A}"/>
              </a:ext>
            </a:extLst>
          </p:cNvPr>
          <p:cNvSpPr txBox="1"/>
          <p:nvPr/>
        </p:nvSpPr>
        <p:spPr>
          <a:xfrm>
            <a:off x="8662242" y="6058911"/>
            <a:ext cx="440400" cy="34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467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=</a:t>
            </a:r>
            <a:endParaRPr sz="2267" kern="0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6" name="Google Shape;714;p83">
            <a:extLst>
              <a:ext uri="{FF2B5EF4-FFF2-40B4-BE49-F238E27FC236}">
                <a16:creationId xmlns:a16="http://schemas.microsoft.com/office/drawing/2014/main" id="{C3ED4AD4-3706-7E02-B8B2-83C82CCCFB12}"/>
              </a:ext>
            </a:extLst>
          </p:cNvPr>
          <p:cNvSpPr/>
          <p:nvPr/>
        </p:nvSpPr>
        <p:spPr>
          <a:xfrm>
            <a:off x="7140660" y="6128313"/>
            <a:ext cx="1306400" cy="303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70%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7" name="Google Shape;715;p83">
            <a:extLst>
              <a:ext uri="{FF2B5EF4-FFF2-40B4-BE49-F238E27FC236}">
                <a16:creationId xmlns:a16="http://schemas.microsoft.com/office/drawing/2014/main" id="{CA131412-4FBC-7539-BEB5-197A72EB0FD2}"/>
              </a:ext>
            </a:extLst>
          </p:cNvPr>
          <p:cNvSpPr/>
          <p:nvPr/>
        </p:nvSpPr>
        <p:spPr>
          <a:xfrm>
            <a:off x="8998042" y="5873190"/>
            <a:ext cx="2049200" cy="73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0" rIns="12190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800"/>
            </a:pPr>
            <a:r>
              <a:rPr lang="en" sz="2667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$323 </a:t>
            </a:r>
            <a:endParaRPr sz="2667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algn="ctr" defTabSz="1219170">
              <a:buClr>
                <a:srgbClr val="000000"/>
              </a:buClr>
              <a:buSzPts val="800"/>
            </a:pPr>
            <a:r>
              <a:rPr lang="en" sz="1067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Potential Savings p.a.</a:t>
            </a:r>
            <a:endParaRPr sz="1067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0" name="Google Shape;718;p83">
            <a:extLst>
              <a:ext uri="{FF2B5EF4-FFF2-40B4-BE49-F238E27FC236}">
                <a16:creationId xmlns:a16="http://schemas.microsoft.com/office/drawing/2014/main" id="{8AF730A3-F4EB-1536-6164-618B2D663460}"/>
              </a:ext>
            </a:extLst>
          </p:cNvPr>
          <p:cNvSpPr txBox="1"/>
          <p:nvPr/>
        </p:nvSpPr>
        <p:spPr>
          <a:xfrm>
            <a:off x="6328800" y="1363516"/>
            <a:ext cx="52552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defTabSz="1219170">
              <a:buClr>
                <a:srgbClr val="FFFFFF"/>
              </a:buClr>
              <a:buSzPts val="1400"/>
            </a:pPr>
            <a:r>
              <a:rPr lang="en" sz="1600" b="1" kern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Root Cause</a:t>
            </a:r>
            <a:endParaRPr sz="1600" b="1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1" name="Google Shape;719;p83">
            <a:extLst>
              <a:ext uri="{FF2B5EF4-FFF2-40B4-BE49-F238E27FC236}">
                <a16:creationId xmlns:a16="http://schemas.microsoft.com/office/drawing/2014/main" id="{C8179006-3432-EE91-70CA-2F91C14107E6}"/>
              </a:ext>
            </a:extLst>
          </p:cNvPr>
          <p:cNvSpPr txBox="1"/>
          <p:nvPr/>
        </p:nvSpPr>
        <p:spPr>
          <a:xfrm>
            <a:off x="6328800" y="1772666"/>
            <a:ext cx="5255200" cy="267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ATTRIBUTE-BASED: Vendor-specific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→ Vendors 0000001001 &amp; R1000 = 50% of price events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→ Price lists not synchronized between SAP and vendor ERP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PROCESS-BASED: No pre-PO price validation step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→ PO issued with catalog price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→ Vendor invoices at contracted/current price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→ Mismatch discovered only at invoice receipt stage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TIME-BASED: Corrections spike at period-end</a:t>
            </a:r>
          </a:p>
          <a:p>
            <a:pPr marL="28220" defTabSz="1219170">
              <a:spcAft>
                <a:spcPts val="800"/>
              </a:spcAft>
              <a:buClr>
                <a:srgbClr val="2C2A2A"/>
              </a:buClr>
              <a:buSzPts val="700"/>
            </a:pPr>
            <a:r>
              <a:rPr lang="en-IN" sz="12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→ Budget pressure drives faster (less accurate) PO creation</a:t>
            </a:r>
            <a:endParaRPr sz="12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32" name="Google Shape;720;p83">
            <a:extLst>
              <a:ext uri="{FF2B5EF4-FFF2-40B4-BE49-F238E27FC236}">
                <a16:creationId xmlns:a16="http://schemas.microsoft.com/office/drawing/2014/main" id="{26ABE27C-840C-D492-F65C-A4FEDDDD2D6C}"/>
              </a:ext>
            </a:extLst>
          </p:cNvPr>
          <p:cNvCxnSpPr/>
          <p:nvPr/>
        </p:nvCxnSpPr>
        <p:spPr>
          <a:xfrm>
            <a:off x="6328800" y="1661471"/>
            <a:ext cx="52552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725;p83">
            <a:extLst>
              <a:ext uri="{FF2B5EF4-FFF2-40B4-BE49-F238E27FC236}">
                <a16:creationId xmlns:a16="http://schemas.microsoft.com/office/drawing/2014/main" id="{BEC86393-9643-831D-AA59-0AA42C5B4ABF}"/>
              </a:ext>
            </a:extLst>
          </p:cNvPr>
          <p:cNvSpPr txBox="1"/>
          <p:nvPr/>
        </p:nvSpPr>
        <p:spPr>
          <a:xfrm>
            <a:off x="6447489" y="4447122"/>
            <a:ext cx="4869905" cy="105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300" b="1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Assumptions:</a:t>
            </a:r>
            <a:r>
              <a:rPr lang="en" sz="1300" kern="0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</a:p>
          <a:p>
            <a:pPr defTabSz="1219170">
              <a:buClr>
                <a:srgbClr val="000000"/>
              </a:buClr>
            </a:pPr>
            <a:endParaRPr lang="en" sz="13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defTabSz="1219170">
              <a:buClr>
                <a:srgbClr val="000000"/>
              </a:buClr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$90K FTE cost/yr | 10 min/correction 70% realization (master data fix)</a:t>
            </a:r>
            <a:endParaRPr lang="en" sz="1300" kern="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38" name="Google Shape;726;p83">
            <a:extLst>
              <a:ext uri="{FF2B5EF4-FFF2-40B4-BE49-F238E27FC236}">
                <a16:creationId xmlns:a16="http://schemas.microsoft.com/office/drawing/2014/main" id="{79EB0A7E-7A76-EA68-1F37-75EEDF6CCB35}"/>
              </a:ext>
            </a:extLst>
          </p:cNvPr>
          <p:cNvSpPr/>
          <p:nvPr/>
        </p:nvSpPr>
        <p:spPr>
          <a:xfrm>
            <a:off x="8882442" y="5473665"/>
            <a:ext cx="2280400" cy="3488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" sz="1200" kern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Committed Value</a:t>
            </a:r>
            <a:endParaRPr sz="1200" kern="0" dirty="0">
              <a:solidFill>
                <a:srgbClr val="FFFFFF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4914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2"/>
          <p:cNvSpPr txBox="1">
            <a:spLocks noGrp="1"/>
          </p:cNvSpPr>
          <p:nvPr>
            <p:ph type="title"/>
          </p:nvPr>
        </p:nvSpPr>
        <p:spPr>
          <a:xfrm>
            <a:off x="407988" y="260852"/>
            <a:ext cx="10594000" cy="121013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-US" sz="3000" dirty="0"/>
              <a:t>Business Case Summary: AP Value Journey</a:t>
            </a:r>
            <a:br>
              <a:rPr lang="en-US" sz="3000" dirty="0"/>
            </a:br>
            <a:r>
              <a:rPr lang="en-US" sz="1800" dirty="0"/>
              <a:t>Both opportunities target the Productivity pillar → impact P&amp;L → improve Free Cash Flow</a:t>
            </a:r>
            <a:endParaRPr sz="3000" b="0" dirty="0"/>
          </a:p>
        </p:txBody>
      </p:sp>
      <p:graphicFrame>
        <p:nvGraphicFramePr>
          <p:cNvPr id="685" name="Google Shape;685;p82"/>
          <p:cNvGraphicFramePr/>
          <p:nvPr>
            <p:extLst>
              <p:ext uri="{D42A27DB-BD31-4B8C-83A1-F6EECF244321}">
                <p14:modId xmlns:p14="http://schemas.microsoft.com/office/powerpoint/2010/main" val="1511119814"/>
              </p:ext>
            </p:extLst>
          </p:nvPr>
        </p:nvGraphicFramePr>
        <p:xfrm>
          <a:off x="407988" y="1277115"/>
          <a:ext cx="11015386" cy="43037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0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8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4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54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275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Objective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Opportunity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Owner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Time-To-Value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Framed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Committed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 SemiBold"/>
                          <a:cs typeface="Poppins" panose="00000500000000000000" pitchFamily="2" charset="0"/>
                          <a:sym typeface="Poppins SemiBold"/>
                        </a:rPr>
                        <a:t>Realized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 SemiBold"/>
                        <a:cs typeface="Poppins" panose="00000500000000000000" pitchFamily="2" charset="0"/>
                        <a:sym typeface="Poppins SemiBold"/>
                      </a:endParaRPr>
                    </a:p>
                  </a:txBody>
                  <a:tcPr marL="121900" marR="121900" marT="60933" marB="60933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028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Productivity</a:t>
                      </a:r>
                      <a:endParaRPr sz="12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Payment &amp; PO Blocks</a:t>
                      </a:r>
                      <a:endParaRPr sz="11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AP Team Lead</a:t>
                      </a:r>
                      <a:endParaRPr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Short (1–2 sprints)</a:t>
                      </a:r>
                      <a:endParaRPr sz="11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$292*</a:t>
                      </a:r>
                      <a:endParaRPr sz="11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TBD</a:t>
                      </a:r>
                      <a:endParaRPr sz="12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-</a:t>
                      </a:r>
                      <a:endParaRPr sz="12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451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Price Deviation Rework</a:t>
                      </a:r>
                      <a:endParaRPr sz="11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AP Team Lead</a:t>
                      </a:r>
                      <a:endParaRPr sz="11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Short (1–2 sprints)</a:t>
                      </a:r>
                      <a:endParaRPr sz="11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$323*</a:t>
                      </a:r>
                      <a:endParaRPr sz="11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TBD</a:t>
                      </a:r>
                      <a:endParaRPr sz="12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-</a:t>
                      </a:r>
                      <a:endParaRPr sz="1200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998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Total Annual Impact (P&amp;L)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$615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-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solidFill>
                            <a:srgbClr val="000000"/>
                          </a:solidFill>
                          <a:latin typeface="Poppins" panose="00000500000000000000" pitchFamily="2" charset="0"/>
                          <a:ea typeface="Poppins"/>
                          <a:cs typeface="Poppins" panose="00000500000000000000" pitchFamily="2" charset="0"/>
                          <a:sym typeface="Poppins"/>
                        </a:rPr>
                        <a:t>-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98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 Spend Analyzed</a:t>
                      </a:r>
                      <a:endParaRPr sz="1400" b="1" dirty="0"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€207,096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2268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Deviation Rate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33.9% of cases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2268">
                <a:tc grid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Current Automation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47.5% (target: 70%+)</a:t>
                      </a:r>
                      <a:endParaRPr sz="1400" b="1" dirty="0">
                        <a:solidFill>
                          <a:srgbClr val="000000"/>
                        </a:solidFill>
                        <a:latin typeface="Poppins" panose="00000500000000000000" pitchFamily="2" charset="0"/>
                        <a:ea typeface="Poppins"/>
                        <a:cs typeface="Poppins" panose="00000500000000000000" pitchFamily="2" charset="0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21900" marR="121900" marT="60933" marB="60933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869860"/>
                  </a:ext>
                </a:extLst>
              </a:tr>
            </a:tbl>
          </a:graphicData>
        </a:graphic>
      </p:graphicFrame>
      <p:sp>
        <p:nvSpPr>
          <p:cNvPr id="686" name="Google Shape;686;p82"/>
          <p:cNvSpPr/>
          <p:nvPr/>
        </p:nvSpPr>
        <p:spPr>
          <a:xfrm>
            <a:off x="407988" y="5751442"/>
            <a:ext cx="8563734" cy="1026099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1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400" kern="0" dirty="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📌 METHODOLOGY NOTE</a:t>
            </a:r>
          </a:p>
          <a:p>
            <a:pPr algn="ctr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400" kern="0" dirty="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Value calculated using: Affected Events × Realization Potential × (Effort × FTE Cost/min)</a:t>
            </a:r>
          </a:p>
          <a:p>
            <a:pPr algn="ctr" defTabSz="1219170">
              <a:lnSpc>
                <a:spcPct val="150000"/>
              </a:lnSpc>
              <a:buClr>
                <a:srgbClr val="000000"/>
              </a:buClr>
            </a:pPr>
            <a:r>
              <a:rPr lang="en-US" sz="1400" kern="0" dirty="0">
                <a:solidFill>
                  <a:srgbClr val="B7B7B7"/>
                </a:solidFill>
                <a:latin typeface="Poppins"/>
                <a:ea typeface="Poppins"/>
                <a:cs typeface="Poppins"/>
                <a:sym typeface="Poppins"/>
              </a:rPr>
              <a:t>FTE assumption: $90,000/year | $0.42/min | Source: Celonis Value Framing Guide</a:t>
            </a:r>
            <a:endParaRPr sz="1400" kern="0" dirty="0">
              <a:solidFill>
                <a:srgbClr val="B7B7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FB6AC-DCD3-D889-003E-B55093B4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Cause Analysis: Who &amp; Why?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915165-93B2-7E07-FE11-FB4A1072B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446972"/>
              </p:ext>
            </p:extLst>
          </p:nvPr>
        </p:nvGraphicFramePr>
        <p:xfrm>
          <a:off x="408000" y="1308688"/>
          <a:ext cx="6175680" cy="3659553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43920">
                  <a:extLst>
                    <a:ext uri="{9D8B030D-6E8A-4147-A177-3AD203B41FA5}">
                      <a16:colId xmlns:a16="http://schemas.microsoft.com/office/drawing/2014/main" val="1948946602"/>
                    </a:ext>
                  </a:extLst>
                </a:gridCol>
                <a:gridCol w="1543920">
                  <a:extLst>
                    <a:ext uri="{9D8B030D-6E8A-4147-A177-3AD203B41FA5}">
                      <a16:colId xmlns:a16="http://schemas.microsoft.com/office/drawing/2014/main" val="1392202680"/>
                    </a:ext>
                  </a:extLst>
                </a:gridCol>
                <a:gridCol w="1543920">
                  <a:extLst>
                    <a:ext uri="{9D8B030D-6E8A-4147-A177-3AD203B41FA5}">
                      <a16:colId xmlns:a16="http://schemas.microsoft.com/office/drawing/2014/main" val="648078472"/>
                    </a:ext>
                  </a:extLst>
                </a:gridCol>
                <a:gridCol w="1543920">
                  <a:extLst>
                    <a:ext uri="{9D8B030D-6E8A-4147-A177-3AD203B41FA5}">
                      <a16:colId xmlns:a16="http://schemas.microsoft.com/office/drawing/2014/main" val="1736417051"/>
                    </a:ext>
                  </a:extLst>
                </a:gridCol>
              </a:tblGrid>
              <a:tr h="87095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Vendor ID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Change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Total 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Risk level 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822031"/>
                  </a:ext>
                </a:extLst>
              </a:tr>
              <a:tr h="55771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0000001001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🔴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780412"/>
                  </a:ext>
                </a:extLst>
              </a:tr>
              <a:tr h="55771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R1000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🔴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143616"/>
                  </a:ext>
                </a:extLst>
              </a:tr>
              <a:tr h="55771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0000003021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🟡 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226037"/>
                  </a:ext>
                </a:extLst>
              </a:tr>
              <a:tr h="55771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0000001011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🟡 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385374"/>
                  </a:ext>
                </a:extLst>
              </a:tr>
              <a:tr h="55771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🟢 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88836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184DC57-0D47-4C64-8A02-0DEB644B51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115832"/>
              </p:ext>
            </p:extLst>
          </p:nvPr>
        </p:nvGraphicFramePr>
        <p:xfrm>
          <a:off x="6809630" y="1134373"/>
          <a:ext cx="5150678" cy="4589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13FC45-46FA-62A7-10E9-C74BF563F93F}"/>
              </a:ext>
            </a:extLst>
          </p:cNvPr>
          <p:cNvSpPr/>
          <p:nvPr/>
        </p:nvSpPr>
        <p:spPr>
          <a:xfrm>
            <a:off x="408000" y="5685184"/>
            <a:ext cx="8355000" cy="802516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"Not all root causes are visible in the data. </a:t>
            </a:r>
          </a:p>
          <a:p>
            <a:pPr algn="ctr"/>
            <a:r>
              <a:rPr lang="en-US" sz="1600" i="1" dirty="0"/>
              <a:t>Talking to business users reveals what the data can't show."</a:t>
            </a:r>
          </a:p>
          <a:p>
            <a:pPr algn="ctr"/>
            <a:r>
              <a:rPr lang="en-US" sz="1600" i="1" dirty="0"/>
              <a:t>— Celonis Value Framing Methodology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3274550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5EC5-54FA-AF5E-B758-AD0B2D88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6906" y="427607"/>
            <a:ext cx="6877071" cy="1231106"/>
          </a:xfrm>
        </p:spPr>
        <p:txBody>
          <a:bodyPr/>
          <a:lstStyle/>
          <a:p>
            <a:pPr algn="r"/>
            <a:r>
              <a:rPr lang="en-US" dirty="0"/>
              <a:t>Prioritization: Where to Act First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92710-DC36-E70D-66CC-F7AAADC4C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77" y="2096966"/>
            <a:ext cx="5688000" cy="360098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dirty="0"/>
              <a:t>RECOMMENDED EXECUTION ORDER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PHASE 1 (Immediate — 0–4 weeks)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[1] Price Deviations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• Vendor master data fix (top 2 vendors)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• No technology required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• Eliminate 50% of problem immediately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PHASE 2 (Short-term — 4–12 weeks)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[2] Payment &amp; PO Blocks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• Celonis Parked &amp; Blocked Invoices App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• Automated detection + Action Flows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   • Integrate with AP workflow</a:t>
            </a:r>
            <a:endParaRPr lang="en-IN" sz="1200" dirty="0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2319007-F3DB-3E1C-7CC5-634175672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6659848"/>
              </p:ext>
            </p:extLst>
          </p:nvPr>
        </p:nvGraphicFramePr>
        <p:xfrm>
          <a:off x="-266218" y="1151681"/>
          <a:ext cx="6550049" cy="4714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E463F0-092B-36BA-A60E-AB89B475BA91}"/>
              </a:ext>
            </a:extLst>
          </p:cNvPr>
          <p:cNvSpPr txBox="1"/>
          <p:nvPr/>
        </p:nvSpPr>
        <p:spPr>
          <a:xfrm>
            <a:off x="366509" y="6121716"/>
            <a:ext cx="88237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Combined Annual Value: $615 (sample) | $2M–$2.7M (enterprise scale)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Timeline to first value realization: 4–6 weeks</a:t>
            </a:r>
          </a:p>
        </p:txBody>
      </p:sp>
    </p:spTree>
    <p:extLst>
      <p:ext uri="{BB962C8B-B14F-4D97-AF65-F5344CB8AC3E}">
        <p14:creationId xmlns:p14="http://schemas.microsoft.com/office/powerpoint/2010/main" val="2029317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595F0D-CE7E-C8FF-3541-CB1E6E47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0260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 advClick="0" advTm="3000">
        <p159:morph option="byWord"/>
      </p:transition>
    </mc:Choice>
    <mc:Fallback xmlns="">
      <p:transition spd="slow" advClick="0" advTm="3000">
        <p:fade/>
      </p:transition>
    </mc:Fallback>
  </mc:AlternateContent>
</p:sld>
</file>

<file path=ppt/theme/theme1.xml><?xml version="1.0" encoding="utf-8"?>
<a:theme xmlns:a="http://schemas.openxmlformats.org/drawingml/2006/main" name="Value Asset Template 2023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pop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1568</Words>
  <Application>Microsoft Office PowerPoint</Application>
  <PresentationFormat>Widescreen</PresentationFormat>
  <Paragraphs>255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Consolas</vt:lpstr>
      <vt:lpstr>Poppins</vt:lpstr>
      <vt:lpstr>Value Asset Template 2023</vt:lpstr>
      <vt:lpstr>Accounts Payable Value Framing Business Case</vt:lpstr>
      <vt:lpstr>Why Accounts Payable? The Value Framework</vt:lpstr>
      <vt:lpstr>The Dataset: P2P Event Log — Key Statistics</vt:lpstr>
      <vt:lpstr>Where Does the Process Break Down?</vt:lpstr>
      <vt:lpstr>Opportunity 1: Resolve Payment Blocks &amp; PO Holds</vt:lpstr>
      <vt:lpstr>Opportunity 2: Eliminate Price Deviation Rework</vt:lpstr>
      <vt:lpstr>Business Case Summary: AP Value Journey Both opportunities target the Productivity pillar → impact P&amp;L → improve Free Cash Flow</vt:lpstr>
      <vt:lpstr>Root Cause Analysis: Who &amp; Why?</vt:lpstr>
      <vt:lpstr>Prioritization: Where to Act First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[Customer]’s Accounts Payable Value Journey Based on Value Qualification results</dc:title>
  <dc:creator>komal harsh</dc:creator>
  <cp:lastModifiedBy>Komal Karanakota</cp:lastModifiedBy>
  <cp:revision>5</cp:revision>
  <dcterms:created xsi:type="dcterms:W3CDTF">2024-04-05T13:37:25Z</dcterms:created>
  <dcterms:modified xsi:type="dcterms:W3CDTF">2026-03-28T09:47:51Z</dcterms:modified>
</cp:coreProperties>
</file>